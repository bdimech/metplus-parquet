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6" r:id="rId9"/>
    <p:sldId id="257" r:id="rId10"/>
    <p:sldId id="258" r:id="rId11"/>
    <p:sldId id="259" r:id="rId12"/>
    <p:sldId id="260" r:id="rId13"/>
    <p:sldId id="26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FAEB454-7570-712F-374C-A2760597B942}" name="Brendan Dimech" initials="BD" userId="Brendan Dimech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598FC5-930F-4E16-9028-85B3A147BADB}" v="11" dt="2026-04-08T05:02:55.9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58F5E5-0A70-4E97-8321-6A822C915D51}" type="datetimeFigureOut">
              <a:rPr lang="en-AU" smtClean="0"/>
              <a:t>4/05/2026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8F6796-B84A-4E5F-93E6-F05D9182C27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5958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 Section 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668251" y="1835063"/>
            <a:ext cx="6655632" cy="943062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algn="l">
              <a:defRPr sz="30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heading </a:t>
            </a:r>
            <a:br>
              <a:rPr lang="en-US"/>
            </a:br>
            <a:r>
              <a:rPr lang="en-US"/>
              <a:t>to go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668250" y="2911479"/>
            <a:ext cx="6655633" cy="36512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 marL="0" indent="0" algn="l">
              <a:buNone/>
              <a:defRPr sz="2000" spc="-5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Subheading</a:t>
            </a:r>
          </a:p>
        </p:txBody>
      </p:sp>
      <p:pic>
        <p:nvPicPr>
          <p:cNvPr id="8" name="Picture 7" descr="A black and white logo&#10;&#10;Description automatically generated with low confidence">
            <a:extLst>
              <a:ext uri="{FF2B5EF4-FFF2-40B4-BE49-F238E27FC236}">
                <a16:creationId xmlns:a16="http://schemas.microsoft.com/office/drawing/2014/main" id="{EE96DFD7-FAC1-4C46-90E6-A8D212A9E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802" y="716850"/>
            <a:ext cx="735055" cy="51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220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3997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Text_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585554-C636-E2CD-0D2E-0FC72D90DC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8000" y="1265240"/>
            <a:ext cx="11125200" cy="468630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83D621-76A2-3C48-9F05-5A4764477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C16B67-E353-A245-8924-2478DF08B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</p:spTree>
    <p:extLst>
      <p:ext uri="{BB962C8B-B14F-4D97-AF65-F5344CB8AC3E}">
        <p14:creationId xmlns:p14="http://schemas.microsoft.com/office/powerpoint/2010/main" val="173561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2" pos="227">
          <p15:clr>
            <a:srgbClr val="FBAE40"/>
          </p15:clr>
        </p15:guide>
        <p15:guide id="3" orient="horz" pos="3997">
          <p15:clr>
            <a:srgbClr val="FBAE40"/>
          </p15:clr>
        </p15:guide>
        <p15:guide id="4" orient="horz" pos="2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Text_Basic-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585554-C636-E2CD-0D2E-0FC72D90DC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8000" y="1816100"/>
            <a:ext cx="11125200" cy="413543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83D621-76A2-3C48-9F05-5A4764477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C16B67-E353-A245-8924-2478DF08B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CA4F93C-86E8-524A-AEE1-728CB4DBAB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265240"/>
            <a:ext cx="5203868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pc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Font typeface="Arial" panose="020B0604020202020204" pitchFamily="34" charset="0"/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Subtitle Arial 20pt</a:t>
            </a:r>
          </a:p>
        </p:txBody>
      </p:sp>
    </p:spTree>
    <p:extLst>
      <p:ext uri="{BB962C8B-B14F-4D97-AF65-F5344CB8AC3E}">
        <p14:creationId xmlns:p14="http://schemas.microsoft.com/office/powerpoint/2010/main" val="1131625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2" pos="227">
          <p15:clr>
            <a:srgbClr val="FBAE40"/>
          </p15:clr>
        </p15:guide>
        <p15:guide id="3" orient="horz" pos="3997">
          <p15:clr>
            <a:srgbClr val="FBAE40"/>
          </p15:clr>
        </p15:guide>
        <p15:guide id="4" orient="horz" pos="27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Text_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83D621-76A2-3C48-9F05-5A4764477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C16B67-E353-A245-8924-2478DF08B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CA4F93C-86E8-524A-AEE1-728CB4DBAB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265240"/>
            <a:ext cx="5203868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pc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Font typeface="Arial" panose="020B0604020202020204" pitchFamily="34" charset="0"/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Subtitle Arial 20pt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666A72BF-FCBE-4B34-B5C4-A1251BAD09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000" y="1816100"/>
            <a:ext cx="11125200" cy="4134698"/>
          </a:xfrm>
          <a:prstGeom prst="rect">
            <a:avLst/>
          </a:prstGeom>
        </p:spPr>
        <p:txBody>
          <a:bodyPr numCol="1" spcCol="360000"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pPr>
              <a:lnSpc>
                <a:spcPct val="100000"/>
              </a:lnSpc>
            </a:pPr>
            <a:r>
              <a:rPr lang="en-US" spc="0"/>
              <a:t>Security classifications need to be set in the slide master. Go to View &gt; Slide Master, and edit the slide layouts used in your presentation.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pc="0"/>
              <a:t>Body text Arial 16pt.</a:t>
            </a:r>
          </a:p>
          <a:p>
            <a:pPr>
              <a:lnSpc>
                <a:spcPct val="100000"/>
              </a:lnSpc>
            </a:pPr>
            <a:r>
              <a:rPr lang="en-AU" b="0" i="0">
                <a:solidFill>
                  <a:srgbClr val="000000"/>
                </a:solidFill>
                <a:effectLst/>
              </a:rPr>
              <a:t>Lorem ipsum </a:t>
            </a:r>
            <a:r>
              <a:rPr lang="en-AU" b="0" i="0" err="1">
                <a:solidFill>
                  <a:srgbClr val="000000"/>
                </a:solidFill>
                <a:effectLst/>
              </a:rPr>
              <a:t>dolor</a:t>
            </a:r>
            <a:r>
              <a:rPr lang="en-AU" b="0" i="0">
                <a:solidFill>
                  <a:srgbClr val="000000"/>
                </a:solidFill>
                <a:effectLst/>
              </a:rPr>
              <a:t> sit </a:t>
            </a:r>
            <a:r>
              <a:rPr lang="en-AU" b="0" i="0" err="1">
                <a:solidFill>
                  <a:srgbClr val="000000"/>
                </a:solidFill>
                <a:effectLst/>
              </a:rPr>
              <a:t>amet</a:t>
            </a:r>
            <a:r>
              <a:rPr lang="en-AU" b="0" i="0">
                <a:solidFill>
                  <a:srgbClr val="000000"/>
                </a:solidFill>
                <a:effectLst/>
              </a:rPr>
              <a:t>, </a:t>
            </a:r>
            <a:r>
              <a:rPr lang="en-AU" b="0" i="0" err="1">
                <a:solidFill>
                  <a:srgbClr val="000000"/>
                </a:solidFill>
                <a:effectLst/>
              </a:rPr>
              <a:t>consectetur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adipiscing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elit</a:t>
            </a:r>
            <a:r>
              <a:rPr lang="en-AU" b="0" i="0">
                <a:solidFill>
                  <a:srgbClr val="000000"/>
                </a:solidFill>
                <a:effectLst/>
              </a:rPr>
              <a:t>. Proin </a:t>
            </a:r>
            <a:r>
              <a:rPr lang="en-AU" b="0" i="0" err="1">
                <a:solidFill>
                  <a:srgbClr val="000000"/>
                </a:solidFill>
                <a:effectLst/>
              </a:rPr>
              <a:t>viverra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augue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lectus</a:t>
            </a:r>
            <a:r>
              <a:rPr lang="en-AU" b="0" i="0">
                <a:solidFill>
                  <a:srgbClr val="000000"/>
                </a:solidFill>
                <a:effectLst/>
              </a:rPr>
              <a:t>, </a:t>
            </a:r>
            <a:r>
              <a:rPr lang="en-AU" b="0" i="0" err="1">
                <a:solidFill>
                  <a:srgbClr val="000000"/>
                </a:solidFill>
                <a:effectLst/>
              </a:rPr>
              <a:t>quis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sagittis</a:t>
            </a:r>
            <a:r>
              <a:rPr lang="en-AU" b="0" i="0">
                <a:solidFill>
                  <a:srgbClr val="000000"/>
                </a:solidFill>
                <a:effectLst/>
              </a:rPr>
              <a:t> mi </a:t>
            </a:r>
            <a:r>
              <a:rPr lang="en-AU" b="0" i="0" err="1">
                <a:solidFill>
                  <a:srgbClr val="000000"/>
                </a:solidFill>
                <a:effectLst/>
              </a:rPr>
              <a:t>facilisis</a:t>
            </a:r>
            <a:r>
              <a:rPr lang="en-AU" b="0" i="0">
                <a:solidFill>
                  <a:srgbClr val="000000"/>
                </a:solidFill>
                <a:effectLst/>
              </a:rPr>
              <a:t> in. </a:t>
            </a:r>
            <a:r>
              <a:rPr lang="en-AU" b="0" i="0" err="1">
                <a:solidFill>
                  <a:srgbClr val="000000"/>
                </a:solidFill>
                <a:effectLst/>
              </a:rPr>
              <a:t>Suspendisse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efficitur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justo</a:t>
            </a:r>
            <a:r>
              <a:rPr lang="en-AU" b="0" i="0">
                <a:solidFill>
                  <a:srgbClr val="000000"/>
                </a:solidFill>
                <a:effectLst/>
              </a:rPr>
              <a:t> a </a:t>
            </a:r>
            <a:r>
              <a:rPr lang="en-AU" b="0" i="0" err="1">
                <a:solidFill>
                  <a:srgbClr val="000000"/>
                </a:solidFill>
                <a:effectLst/>
              </a:rPr>
              <a:t>dolor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blandit</a:t>
            </a:r>
            <a:r>
              <a:rPr lang="en-AU" b="0" i="0">
                <a:solidFill>
                  <a:srgbClr val="000000"/>
                </a:solidFill>
                <a:effectLst/>
              </a:rPr>
              <a:t> dictum. </a:t>
            </a:r>
            <a:r>
              <a:rPr lang="en-AU" b="0" i="0" err="1">
                <a:solidFill>
                  <a:srgbClr val="000000"/>
                </a:solidFill>
                <a:effectLst/>
              </a:rPr>
              <a:t>Curabitur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quis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urna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tristique</a:t>
            </a:r>
            <a:r>
              <a:rPr lang="en-AU" b="0" i="0">
                <a:solidFill>
                  <a:srgbClr val="000000"/>
                </a:solidFill>
                <a:effectLst/>
              </a:rPr>
              <a:t>, </a:t>
            </a:r>
            <a:r>
              <a:rPr lang="en-AU" b="0" i="0" err="1">
                <a:solidFill>
                  <a:srgbClr val="000000"/>
                </a:solidFill>
                <a:effectLst/>
              </a:rPr>
              <a:t>euismod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neque</a:t>
            </a:r>
            <a:r>
              <a:rPr lang="en-AU" b="0" i="0">
                <a:solidFill>
                  <a:srgbClr val="000000"/>
                </a:solidFill>
                <a:effectLst/>
              </a:rPr>
              <a:t> a, </a:t>
            </a:r>
            <a:r>
              <a:rPr lang="en-AU" b="0" i="0" err="1">
                <a:solidFill>
                  <a:srgbClr val="000000"/>
                </a:solidFill>
                <a:effectLst/>
              </a:rPr>
              <a:t>molestie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orci</a:t>
            </a:r>
            <a:r>
              <a:rPr lang="en-AU" b="0" i="0">
                <a:solidFill>
                  <a:srgbClr val="000000"/>
                </a:solidFill>
                <a:effectLst/>
              </a:rPr>
              <a:t>. </a:t>
            </a:r>
            <a:r>
              <a:rPr lang="en-AU" b="0" i="0" err="1">
                <a:solidFill>
                  <a:srgbClr val="000000"/>
                </a:solidFill>
                <a:effectLst/>
              </a:rPr>
              <a:t>Aliquam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accumsan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varius</a:t>
            </a:r>
            <a:r>
              <a:rPr lang="en-AU" b="0" i="0">
                <a:solidFill>
                  <a:srgbClr val="000000"/>
                </a:solidFill>
                <a:effectLst/>
              </a:rPr>
              <a:t> diam, vitae </a:t>
            </a:r>
            <a:r>
              <a:rPr lang="en-AU" b="0" i="0" err="1">
                <a:solidFill>
                  <a:srgbClr val="000000"/>
                </a:solidFill>
                <a:effectLst/>
              </a:rPr>
              <a:t>sollicitudin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metus</a:t>
            </a:r>
            <a:r>
              <a:rPr lang="en-AU" b="0" i="0">
                <a:solidFill>
                  <a:srgbClr val="000000"/>
                </a:solidFill>
                <a:effectLst/>
              </a:rPr>
              <a:t> </a:t>
            </a:r>
            <a:r>
              <a:rPr lang="en-AU" b="0" i="0" err="1">
                <a:solidFill>
                  <a:srgbClr val="000000"/>
                </a:solidFill>
                <a:effectLst/>
              </a:rPr>
              <a:t>tincidunt</a:t>
            </a:r>
            <a:r>
              <a:rPr lang="en-AU" b="0" i="0">
                <a:solidFill>
                  <a:srgbClr val="000000"/>
                </a:solidFill>
                <a:effectLst/>
              </a:rPr>
              <a:t> non. </a:t>
            </a:r>
          </a:p>
        </p:txBody>
      </p:sp>
    </p:spTree>
    <p:extLst>
      <p:ext uri="{BB962C8B-B14F-4D97-AF65-F5344CB8AC3E}">
        <p14:creationId xmlns:p14="http://schemas.microsoft.com/office/powerpoint/2010/main" val="2062513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2" pos="227">
          <p15:clr>
            <a:srgbClr val="FBAE40"/>
          </p15:clr>
        </p15:guide>
        <p15:guide id="3" orient="horz" pos="3997">
          <p15:clr>
            <a:srgbClr val="FBAE40"/>
          </p15:clr>
        </p15:guide>
        <p15:guide id="4" orient="horz" pos="27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On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FEAB78-CB7D-644D-AB42-F3281530DF6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8001" y="1268413"/>
            <a:ext cx="11125201" cy="4682386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092A186-EA84-9D61-15EF-4F7BA3EC0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86B14A7-8CA9-FC4B-25F7-89D3DFE7C8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01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3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79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One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edia Placeholder 11">
            <a:extLst>
              <a:ext uri="{FF2B5EF4-FFF2-40B4-BE49-F238E27FC236}">
                <a16:creationId xmlns:a16="http://schemas.microsoft.com/office/drawing/2014/main" id="{CB4B048F-49DB-294C-9B64-6DDC07BC8801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508001" y="1268411"/>
            <a:ext cx="11125201" cy="4683600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9E56136-2946-CB17-DB06-D221E79D1C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74937D7-57DF-3C58-3756-E1603928F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47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2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79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FEAB78-CB7D-644D-AB42-F3281530DF6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1265238"/>
            <a:ext cx="5537200" cy="2328122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88FB6355-3F99-E543-AC08-CA31FD17422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3708892"/>
            <a:ext cx="5537200" cy="2328122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AB2F0F-7002-FC4D-BB36-DA6A776F7F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265240"/>
            <a:ext cx="5203868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pc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Font typeface="Arial" panose="020B0604020202020204" pitchFamily="34" charset="0"/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Subtitle Arial 20pt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1612F22-3086-1D4B-847F-BFDD0B943D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000" y="1816100"/>
            <a:ext cx="5204885" cy="422879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Body text Arial 16pt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B53D0-589A-14B8-CB75-2B87D37793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70D4FDD-BB80-BBC5-6378-519EB9C39A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</p:spTree>
    <p:extLst>
      <p:ext uri="{BB962C8B-B14F-4D97-AF65-F5344CB8AC3E}">
        <p14:creationId xmlns:p14="http://schemas.microsoft.com/office/powerpoint/2010/main" val="709922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3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79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3 Content Slide_Chart-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9FF98915-3EA7-53CE-98FB-C31D0352D5F2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07999" y="1903719"/>
            <a:ext cx="11125200" cy="4175464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579B3-2054-F567-E21B-68C374AF6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CE2C3E8-A186-9CD3-B18F-4E92380EDB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CAF0DDC6-6ABC-232F-AA95-9D8F7C890AC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265240"/>
            <a:ext cx="11125200" cy="3651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pc="0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>
              <a:buFont typeface="Arial" panose="020B0604020202020204" pitchFamily="34" charset="0"/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/>
              <a:t>Subtitle Arial 20pt</a:t>
            </a:r>
          </a:p>
        </p:txBody>
      </p:sp>
    </p:spTree>
    <p:extLst>
      <p:ext uri="{BB962C8B-B14F-4D97-AF65-F5344CB8AC3E}">
        <p14:creationId xmlns:p14="http://schemas.microsoft.com/office/powerpoint/2010/main" val="802151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3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79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FEAB78-CB7D-644D-AB42-F3281530DF6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8001" y="1268412"/>
            <a:ext cx="5336785" cy="4683600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0F2FFE4A-6EDC-054F-A395-35CB84DDF1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96419" y="1268412"/>
            <a:ext cx="5336783" cy="4683600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9AF0933-2D36-214A-9E3B-B173355C57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F76C319-DF9C-3F44-BF39-C77F977A6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131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3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79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 Slide_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4C38238-0976-D845-8170-7D1B690596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8002" y="3683315"/>
            <a:ext cx="5336783" cy="2251454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6A7839C2-DFEF-554F-ADCD-0E2891D23B9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8001" y="1265239"/>
            <a:ext cx="5336783" cy="2251453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5AA1B4DC-B267-F44D-9040-EFDEAFF98EC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96419" y="3683315"/>
            <a:ext cx="5336783" cy="2251454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DD452DB2-84AA-5A4F-AD91-71633B945FB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6418" y="1265237"/>
            <a:ext cx="5336783" cy="2251454"/>
          </a:xfrm>
          <a:prstGeom prst="rect">
            <a:avLst/>
          </a:prstGeom>
        </p:spPr>
        <p:txBody>
          <a:bodyPr/>
          <a:lstStyle>
            <a:lvl1pPr>
              <a:defRPr sz="160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1" name="Picture 10" descr="A picture containing light, vector graphics&#10;&#10;Description automatically generated">
            <a:extLst>
              <a:ext uri="{FF2B5EF4-FFF2-40B4-BE49-F238E27FC236}">
                <a16:creationId xmlns:a16="http://schemas.microsoft.com/office/drawing/2014/main" id="{651387BB-85B3-8E42-A2DC-0E9E86E5FF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3715" y="6356354"/>
            <a:ext cx="519487" cy="3651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8542795-3409-9218-CB73-0D1512BDF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1" y="425886"/>
            <a:ext cx="8902417" cy="469726"/>
          </a:xfrm>
          <a:prstGeom prst="rect">
            <a:avLst/>
          </a:prstGeom>
        </p:spPr>
        <p:txBody>
          <a:bodyPr/>
          <a:lstStyle>
            <a:lvl1pPr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Slide heading Arial Bold 25pt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2615BCC-350B-78C6-B15A-0BEC082EC3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44460" y="6356354"/>
            <a:ext cx="20203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ACA7046-D314-6340-8D2C-B3889D9888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1390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496">
          <p15:clr>
            <a:srgbClr val="FBAE40"/>
          </p15:clr>
        </p15:guide>
        <p15:guide id="3" pos="227">
          <p15:clr>
            <a:srgbClr val="FBAE40"/>
          </p15:clr>
        </p15:guide>
        <p15:guide id="4" orient="horz" pos="278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CA757-ECCC-6F9A-5BA5-13760AEDE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829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23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126A44-4790-9F3F-E52F-9D15134EC97F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728917" y="0"/>
            <a:ext cx="3463083" cy="4328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68B39F-514B-6A6E-373D-8C184F299A7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836412" y="63500"/>
            <a:ext cx="5445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U" sz="10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OFFICIAL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C86CC2-7C45-65B8-31CC-10CCB0F5D6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36412" y="6642100"/>
            <a:ext cx="5445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U" sz="10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OFFICIAL</a:t>
            </a:r>
          </a:p>
        </p:txBody>
      </p:sp>
    </p:spTree>
    <p:extLst>
      <p:ext uri="{BB962C8B-B14F-4D97-AF65-F5344CB8AC3E}">
        <p14:creationId xmlns:p14="http://schemas.microsoft.com/office/powerpoint/2010/main" val="56490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b="1" kern="120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What We Get: METplus Verification Outputs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6868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1C28"/>
                </a:solidFill>
              </a:rPr>
              <a:t>METplus runs routine NWP verification and writes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results to structured output folders.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Each configuration produces a folder named: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  &lt;Model&gt;_&lt;Obs&gt;_&lt;Parameter&gt;_&lt;Timestep&gt;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Inside each folder are daily YYYYMMDDHH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subdirectories, each containing .stat files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for every forecast lead time and domain.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Two types of verification output: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  GridStat - deterministic scores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  (bias, RMSE, MAE)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  EnsembleStat - ensemble scores</a:t>
            </a:r>
          </a:p>
          <a:p>
            <a:pPr algn="l"/>
            <a:r>
              <a:rPr sz="1100" b="0">
                <a:solidFill>
                  <a:srgbClr val="1C1C28"/>
                </a:solidFill>
              </a:rPr>
              <a:t>  (CRPS, Spread, Skill Score)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914400"/>
            <a:ext cx="5669280" cy="38404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input_all/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43800" y="1298448"/>
            <a:ext cx="0" cy="237744"/>
          </a:xfrm>
          <a:prstGeom prst="line">
            <a:avLst/>
          </a:prstGeom>
          <a:ln w="1270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378440" y="1298448"/>
            <a:ext cx="0" cy="237744"/>
          </a:xfrm>
          <a:prstGeom prst="line">
            <a:avLst/>
          </a:prstGeom>
          <a:ln w="1270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543800" y="1417320"/>
            <a:ext cx="2834640" cy="0"/>
          </a:xfrm>
          <a:prstGeom prst="line">
            <a:avLst/>
          </a:prstGeom>
          <a:ln w="1270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126480" y="1536192"/>
            <a:ext cx="2743200" cy="365760"/>
          </a:xfrm>
          <a:prstGeom prst="roundRect">
            <a:avLst/>
          </a:prstGeom>
          <a:solidFill>
            <a:srgbClr val="153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FFFFFF"/>
                </a:solidFill>
              </a:rPr>
              <a:t>AGlobal4_Analysis_T_AllLevels_00Z/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536192"/>
            <a:ext cx="2743200" cy="365760"/>
          </a:xfrm>
          <a:prstGeom prst="roundRect">
            <a:avLst/>
          </a:prstGeom>
          <a:solidFill>
            <a:srgbClr val="153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FFFFFF"/>
                </a:solidFill>
              </a:rPr>
              <a:t>AGlobal4E_Analysis_T850_00Z/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1901952"/>
            <a:ext cx="0" cy="201168"/>
          </a:xfrm>
          <a:prstGeom prst="line">
            <a:avLst/>
          </a:prstGeom>
          <a:ln w="1016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126480" y="2103120"/>
            <a:ext cx="2743200" cy="329184"/>
          </a:xfrm>
          <a:prstGeom prst="rect">
            <a:avLst/>
          </a:prstGeom>
          <a:solidFill>
            <a:srgbClr val="F5F5F7"/>
          </a:solidFill>
          <a:ln w="5080">
            <a:solidFill>
              <a:srgbClr val="B8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6E6E78"/>
                </a:solidFill>
              </a:rPr>
              <a:t>GridStat/  2026041000/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560320"/>
            <a:ext cx="841248" cy="256032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_cnt.txt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13448" y="2560320"/>
            <a:ext cx="896112" cy="256032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_sl1l2.txt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560320"/>
            <a:ext cx="896112" cy="256032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_sal1l2.txt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20" y="1901952"/>
            <a:ext cx="0" cy="201168"/>
          </a:xfrm>
          <a:prstGeom prst="line">
            <a:avLst/>
          </a:prstGeom>
          <a:ln w="1016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61120" y="2103120"/>
            <a:ext cx="1325880" cy="329184"/>
          </a:xfrm>
          <a:prstGeom prst="rect">
            <a:avLst/>
          </a:prstGeom>
          <a:solidFill>
            <a:srgbClr val="F5F5F7"/>
          </a:solidFill>
          <a:ln w="5080">
            <a:solidFill>
              <a:srgbClr val="B8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6E6E78"/>
                </a:solidFill>
              </a:rPr>
              <a:t>GridStat/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103120"/>
            <a:ext cx="1325880" cy="329184"/>
          </a:xfrm>
          <a:prstGeom prst="rect">
            <a:avLst/>
          </a:prstGeom>
          <a:solidFill>
            <a:srgbClr val="F5F5F7"/>
          </a:solidFill>
          <a:ln w="5080">
            <a:solidFill>
              <a:srgbClr val="B8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6E6E78"/>
                </a:solidFill>
              </a:rPr>
              <a:t>EnsembleStat/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560320"/>
            <a:ext cx="1325880" cy="256032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_cnt.txt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560320"/>
            <a:ext cx="1325880" cy="256032"/>
          </a:xfrm>
          <a:prstGeom prst="roundRect">
            <a:avLst/>
          </a:prstGeom>
          <a:solidFill>
            <a:srgbClr val="C0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_ecnt.txt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0175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6E6E78"/>
                </a:solidFill>
              </a:rPr>
              <a:t>Legend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291840"/>
            <a:ext cx="868680" cy="256032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GridStat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291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C1C28"/>
                </a:solidFill>
              </a:rPr>
              <a:t>Deterministic (CNT, SL1L2, SAL1L2)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291840"/>
            <a:ext cx="1097280" cy="256032"/>
          </a:xfrm>
          <a:prstGeom prst="roundRect">
            <a:avLst/>
          </a:prstGeom>
          <a:solidFill>
            <a:srgbClr val="C0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EnsembleStat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291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C1C28"/>
                </a:solidFill>
              </a:rPr>
              <a:t>Ensemble (ECNT)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Why Parquet?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503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6E78"/>
                </a:solidFill>
              </a:rPr>
              <a:t>Moving from hundreds of daily .stat files to a single, portable, queryable dataset per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2560320" cy="960120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Columnar
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231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Reads only the columns you request. Skip irrelevant fields entirely - no scanning of full rows.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1353312"/>
            <a:ext cx="2560320" cy="960120"/>
          </a:xfrm>
          <a:prstGeom prst="roundRect">
            <a:avLst/>
          </a:prstGeom>
          <a:solidFill>
            <a:srgbClr val="00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Compressed
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24231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5-10x smaller than CSV. Snappy compression is applied automatically. Fits on a USB drive.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25896" y="1353312"/>
            <a:ext cx="2560320" cy="9601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Self-
Describing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25896" y="24231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Schema, data types, and metadata all embedded in one file. No separate DDL or config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87384" y="1353312"/>
            <a:ext cx="2560320" cy="960120"/>
          </a:xfrm>
          <a:prstGeom prst="roundRect">
            <a:avLst/>
          </a:prstGeom>
          <a:solidFill>
            <a:srgbClr val="153A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Python
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423160"/>
            <a:ext cx="2560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One line to load with pandas. Filter columns before reading with pyarrow - no SQL needed.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40480"/>
            <a:ext cx="11338560" cy="658368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00" b="0">
                <a:solidFill>
                  <a:srgbClr val="6E6E78"/>
                </a:solidFill>
              </a:rPr>
              <a:t>vs a SQL database:  no server to install, no connection strings, no schema migrations, no DBA required.  Share your verification data as a single .parquet file - it opens in one line of Python on any machine.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268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461E5"/>
                </a:solidFill>
              </a:rPr>
              <a:t>  df = pq.read_table("AGlobal4_Analysis.parquet", filters=[("PARAMETER","=","MSLP")]).to_pandas()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What We Do: Conversion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993392" cy="65836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Input
Folders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96312" y="2340864"/>
            <a:ext cx="182880" cy="0"/>
          </a:xfrm>
          <a:prstGeom prst="line">
            <a:avLst/>
          </a:prstGeom>
          <a:ln w="1905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79192" y="2011680"/>
            <a:ext cx="1993392" cy="65836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Read &amp;
Parse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72584" y="2340864"/>
            <a:ext cx="182880" cy="0"/>
          </a:xfrm>
          <a:prstGeom prst="line">
            <a:avLst/>
          </a:prstGeom>
          <a:ln w="1905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5464" y="2011680"/>
            <a:ext cx="1993392" cy="65836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Merge &amp;
Clean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48856" y="2340864"/>
            <a:ext cx="182880" cy="0"/>
          </a:xfrm>
          <a:prstGeom prst="line">
            <a:avLst/>
          </a:prstGeom>
          <a:ln w="1905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031736" y="2011680"/>
            <a:ext cx="1993392" cy="65836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Group by
Model/Obs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25128" y="2340864"/>
            <a:ext cx="182880" cy="0"/>
          </a:xfrm>
          <a:prstGeom prst="line">
            <a:avLst/>
          </a:prstGeom>
          <a:ln w="19050">
            <a:solidFill>
              <a:srgbClr val="B8B8C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08008" y="2011680"/>
            <a:ext cx="1993392" cy="658368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Parquet
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98064"/>
            <a:ext cx="1993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6E6E78"/>
                </a:solidFill>
              </a:rPr>
              <a:t>&lt;Model&gt;_&lt;Obs&gt;_&lt;Param&gt;_&lt;TS&gt;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GridStat/ or EnsembleStat/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YYYYMMDDHH subdirectories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2" y="2798064"/>
            <a:ext cx="1993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6E6E78"/>
                </a:solidFill>
              </a:rPr>
              <a:t>CNT, SL1L2, SAL1L2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(GridStat)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ECNT  (EnsembleStat)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2798064"/>
            <a:ext cx="1993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6E6E78"/>
                </a:solidFill>
              </a:rPr>
              <a:t>Drop metadata cols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Convert lead to hours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Add PARAMETER column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Numeric type 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2798064"/>
            <a:ext cx="1993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6E6E78"/>
                </a:solidFill>
              </a:rPr>
              <a:t>One output per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model + obs pair: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AGlobal4_Analysis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AGlobal4E_Analysis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2798064"/>
            <a:ext cx="1993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6E6E78"/>
                </a:solidFill>
              </a:rPr>
              <a:t>One .parquet per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model/obs pair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All parameters</a:t>
            </a:r>
          </a:p>
          <a:p>
            <a:pPr algn="ctr"/>
            <a:r>
              <a:rPr sz="950" b="0">
                <a:solidFill>
                  <a:srgbClr val="6E6E78"/>
                </a:solidFill>
              </a:rPr>
              <a:t>All timesteps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4645152"/>
            <a:ext cx="8869680" cy="475488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6E6E78"/>
                </a:solidFill>
              </a:rPr>
              <a:t>Re-running is safe - already-loaded init dates are skipped per PARAMETER and STAT_TYPE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What the Outputs Look Like: Parquet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841248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C1C28"/>
                </a:solidFill>
              </a:rPr>
              <a:t>Each row = one unique combination of init date, lead time, pressure level, domain, parameter, and stat type.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50876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PARAMETER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1417320"/>
            <a:ext cx="141732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STAT_TYPE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417320"/>
            <a:ext cx="141732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INIT_DATE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1417320"/>
            <a:ext cx="128016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FCST_LEAD_H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123444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FCST_LEV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417320"/>
            <a:ext cx="1234440" cy="292608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VX_MASK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417320"/>
            <a:ext cx="1600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ME / RMSE / MAE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1417320"/>
            <a:ext cx="1645920" cy="292608"/>
          </a:xfrm>
          <a:prstGeom prst="rect">
            <a:avLst/>
          </a:prstGeom>
          <a:solidFill>
            <a:srgbClr val="C0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FFFFF"/>
                </a:solidFill>
              </a:rPr>
              <a:t>CRPS / SPREAD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09928"/>
            <a:ext cx="15087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T_AllLevels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1709928"/>
            <a:ext cx="1417320" cy="292608"/>
          </a:xfrm>
          <a:prstGeom prst="rect">
            <a:avLst/>
          </a:prstGeom>
          <a:solidFill>
            <a:srgbClr val="E6F5E6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07C10"/>
                </a:solidFill>
              </a:rPr>
              <a:t>GridStat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709928"/>
            <a:ext cx="141732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2026-04-10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1709928"/>
            <a:ext cx="12801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09928"/>
            <a:ext cx="12344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P850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709928"/>
            <a:ext cx="12344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Australia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0" y="1709928"/>
            <a:ext cx="160020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-0.5 / 1.87 / 1.43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709928"/>
            <a:ext cx="164592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  -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002536"/>
            <a:ext cx="150876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MSLP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2002536"/>
            <a:ext cx="1417320" cy="292608"/>
          </a:xfrm>
          <a:prstGeom prst="rect">
            <a:avLst/>
          </a:prstGeom>
          <a:solidFill>
            <a:srgbClr val="E6F5E6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07C10"/>
                </a:solidFill>
              </a:rPr>
              <a:t>GridStat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2002536"/>
            <a:ext cx="141732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2026-04-10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2002536"/>
            <a:ext cx="128016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48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002536"/>
            <a:ext cx="123444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L0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79" y="2002536"/>
            <a:ext cx="123444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NH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2002536"/>
            <a:ext cx="160020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0.3 / 2.1 / 1.8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2002536"/>
            <a:ext cx="164592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  -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295144"/>
            <a:ext cx="15087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T850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65960" y="2295144"/>
            <a:ext cx="1417320" cy="292608"/>
          </a:xfrm>
          <a:prstGeom prst="rect">
            <a:avLst/>
          </a:prstGeom>
          <a:solidFill>
            <a:srgbClr val="FDEDE5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C04800"/>
                </a:solidFill>
              </a:rPr>
              <a:t>EnsembleStat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2295144"/>
            <a:ext cx="141732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2026-04-15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40" y="2295144"/>
            <a:ext cx="12801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295144"/>
            <a:ext cx="12344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P850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295144"/>
            <a:ext cx="12344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NH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2295144"/>
            <a:ext cx="160020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0.28 / 3.26 / 2.26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24160" y="2295144"/>
            <a:ext cx="164592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1.62 / 2.73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587752"/>
            <a:ext cx="150876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Wind_All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65960" y="2587752"/>
            <a:ext cx="1417320" cy="292608"/>
          </a:xfrm>
          <a:prstGeom prst="rect">
            <a:avLst/>
          </a:prstGeom>
          <a:solidFill>
            <a:srgbClr val="E6F5E6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07C10"/>
                </a:solidFill>
              </a:rPr>
              <a:t>GridStat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9000" y="2587752"/>
            <a:ext cx="141732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2026-04-15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92040" y="2587752"/>
            <a:ext cx="128016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72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2587752"/>
            <a:ext cx="123444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P250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8079" y="2587752"/>
            <a:ext cx="123444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SH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78240" y="2587752"/>
            <a:ext cx="160020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0.1 / 2.4 / 1.9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2587752"/>
            <a:ext cx="1645920" cy="292608"/>
          </a:xfrm>
          <a:prstGeom prst="rect">
            <a:avLst/>
          </a:prstGeom>
          <a:solidFill>
            <a:srgbClr val="F5F5F7"/>
          </a:solidFill>
          <a:ln w="381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1C1C28"/>
                </a:solidFill>
              </a:rPr>
              <a:t>  -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044952"/>
            <a:ext cx="1280160" cy="256032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Index columns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83080" y="3044952"/>
            <a:ext cx="1280160" cy="25603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GridStat stats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54680" y="3044952"/>
            <a:ext cx="1463040" cy="256032"/>
          </a:xfrm>
          <a:prstGeom prst="rect">
            <a:avLst/>
          </a:prstGeom>
          <a:solidFill>
            <a:srgbClr val="C0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>
                <a:solidFill>
                  <a:srgbClr val="FFFFFF"/>
                </a:solidFill>
              </a:rPr>
              <a:t>EnsembleStat stats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39242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E6E78"/>
                </a:solidFill>
              </a:rPr>
              <a:t>Constant columns (model, variable, units, obs type) are stripped from rows and embedded as file-level metadata.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How We Can Use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2286000" cy="56692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Single Model
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0020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Load one model's file, filter to a parameter,</a:t>
            </a:r>
          </a:p>
          <a:p>
            <a:pPr algn="l"/>
            <a:r>
              <a:rPr sz="1000" b="0">
                <a:solidFill>
                  <a:srgbClr val="1C1C28"/>
                </a:solidFill>
              </a:rPr>
              <a:t>level and domain, and plot any metric by lead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679191"/>
            <a:ext cx="2286000" cy="566928"/>
          </a:xfrm>
          <a:prstGeom prst="round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Cross-Model
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19272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Load two files side-by-side, filter to the same</a:t>
            </a:r>
          </a:p>
          <a:p>
            <a:pPr algn="l"/>
            <a:r>
              <a:rPr sz="1000" b="0">
                <a:solidFill>
                  <a:srgbClr val="1C1C28"/>
                </a:solidFill>
              </a:rPr>
              <a:t>parameter and domain, and compare RMSE or bias.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4398264"/>
            <a:ext cx="2286000" cy="566928"/>
          </a:xfrm>
          <a:prstGeom prst="roundRect">
            <a:avLst/>
          </a:prstGeom>
          <a:solidFill>
            <a:srgbClr val="C0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Ensemble
Diagnostics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038344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C1C28"/>
                </a:solidFill>
              </a:rPr>
              <a:t>Filter STAT_TYPE = EnsembleStat to access CRPS</a:t>
            </a:r>
          </a:p>
          <a:p>
            <a:pPr algn="l"/>
            <a:r>
              <a:rPr sz="1000" b="0">
                <a:solidFill>
                  <a:srgbClr val="1C1C28"/>
                </a:solidFill>
              </a:rPr>
              <a:t>and Spread. Check Spread ~ RMSE for calibration.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914400"/>
            <a:ext cx="9052560" cy="5120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128016" bIns="73152"/>
          <a:lstStyle/>
          <a:p>
            <a:pPr algn="ctr"/>
            <a:r>
              <a:rPr sz="950">
                <a:solidFill>
                  <a:srgbClr val="569CD6"/>
                </a:solidFill>
              </a:rPr>
              <a:t>import pyarrow.parquet as pq</a:t>
            </a:r>
          </a:p>
          <a:p>
            <a:r>
              <a:rPr sz="950">
                <a:solidFill>
                  <a:srgbClr val="CED1D8"/>
                </a:solidFill>
              </a:rPr>
              <a:t/>
            </a:r>
          </a:p>
          <a:p>
            <a:r>
              <a:rPr sz="950">
                <a:solidFill>
                  <a:srgbClr val="6A9955"/>
                </a:solidFill>
              </a:rPr>
              <a:t># Load a model dataset</a:t>
            </a:r>
          </a:p>
          <a:p>
            <a:r>
              <a:rPr sz="950">
                <a:solidFill>
                  <a:srgbClr val="CED1D8"/>
                </a:solidFill>
              </a:rPr>
              <a:t>g4 = pq.read_table(</a:t>
            </a:r>
          </a:p>
          <a:p>
            <a:r>
              <a:rPr sz="950">
                <a:solidFill>
                  <a:srgbClr val="CE9178"/>
                </a:solidFill>
              </a:rPr>
              <a:t>    'AGlobal4_Analysis.parquet'</a:t>
            </a:r>
          </a:p>
          <a:p>
            <a:r>
              <a:rPr sz="950">
                <a:solidFill>
                  <a:srgbClr val="CED1D8"/>
                </a:solidFill>
              </a:rPr>
              <a:t>).to_pandas()</a:t>
            </a:r>
          </a:p>
          <a:p>
            <a:r>
              <a:rPr sz="950">
                <a:solidFill>
                  <a:srgbClr val="CED1D8"/>
                </a:solidFill>
              </a:rPr>
              <a:t/>
            </a:r>
          </a:p>
          <a:p>
            <a:r>
              <a:rPr sz="950">
                <a:solidFill>
                  <a:srgbClr val="6A9955"/>
                </a:solidFill>
              </a:rPr>
              <a:t># Filter to one parameter</a:t>
            </a:r>
          </a:p>
          <a:p>
            <a:r>
              <a:rPr sz="950">
                <a:solidFill>
                  <a:srgbClr val="CED1D8"/>
                </a:solidFill>
              </a:rPr>
              <a:t>t = g4[g4['PARAMETER'] == 'T_AllLevels']</a:t>
            </a:r>
          </a:p>
          <a:p>
            <a:r>
              <a:rPr sz="950">
                <a:solidFill>
                  <a:srgbClr val="CED1D8"/>
                </a:solidFill>
              </a:rPr>
              <a:t/>
            </a:r>
          </a:p>
          <a:p>
            <a:r>
              <a:rPr sz="950">
                <a:solidFill>
                  <a:srgbClr val="6A9955"/>
                </a:solidFill>
              </a:rPr>
              <a:t># Cross-model comparison</a:t>
            </a:r>
          </a:p>
          <a:p>
            <a:r>
              <a:rPr sz="950">
                <a:solidFill>
                  <a:srgbClr val="CED1D8"/>
                </a:solidFill>
              </a:rPr>
              <a:t>g4e = pq.read_table(</a:t>
            </a:r>
          </a:p>
          <a:p>
            <a:r>
              <a:rPr sz="950">
                <a:solidFill>
                  <a:srgbClr val="CE9178"/>
                </a:solidFill>
              </a:rPr>
              <a:t>    'AGlobal4E_Analysis.parquet',</a:t>
            </a:r>
          </a:p>
          <a:p>
            <a:r>
              <a:rPr sz="950">
                <a:solidFill>
                  <a:srgbClr val="CED1D8"/>
                </a:solidFill>
              </a:rPr>
              <a:t>    filters=[('PARAMETER','=','MSLP')]</a:t>
            </a:r>
          </a:p>
          <a:p>
            <a:r>
              <a:rPr sz="950">
                <a:solidFill>
                  <a:srgbClr val="CED1D8"/>
                </a:solidFill>
              </a:rPr>
              <a:t>).to_pandas()</a:t>
            </a:r>
          </a:p>
          <a:p>
            <a:r>
              <a:rPr sz="950">
                <a:solidFill>
                  <a:srgbClr val="CED1D8"/>
                </a:solidFill>
              </a:rPr>
              <a:t/>
            </a:r>
          </a:p>
          <a:p>
            <a:r>
              <a:rPr sz="950">
                <a:solidFill>
                  <a:srgbClr val="6A9955"/>
                </a:solidFill>
              </a:rPr>
              <a:t># Ensemble stats only</a:t>
            </a:r>
          </a:p>
          <a:p>
            <a:r>
              <a:rPr sz="950">
                <a:solidFill>
                  <a:srgbClr val="CED1D8"/>
                </a:solidFill>
              </a:rPr>
              <a:t>ens = g4e[</a:t>
            </a:r>
          </a:p>
          <a:p>
            <a:r>
              <a:rPr sz="950">
                <a:solidFill>
                  <a:srgbClr val="CED1D8"/>
                </a:solidFill>
              </a:rPr>
              <a:t>    g4e['STAT_TYPE'] == 'EnsembleStat']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38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200">
                <a:solidFill>
                  <a:srgbClr val="2461E5"/>
                </a:solidFill>
              </a:rPr>
              <a:t>Example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94944"/>
            <a:ext cx="11338560" cy="20116"/>
          </a:xfrm>
          <a:prstGeom prst="rect">
            <a:avLst/>
          </a:prstGeom>
          <a:solidFill>
            <a:srgbClr val="246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5577840" cy="352044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577840" cy="352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72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E6E78"/>
                </a:solidFill>
              </a:rPr>
              <a:t>Cross-model comparison: MSLP RMSE by lead time over NH (12Z inits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5720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E6E78"/>
                </a:solidFill>
              </a:rPr>
              <a:t>Ensemble calibration: Spread ~ RMSE indicates a well-calibrated ensemble.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1023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6E6E78"/>
                </a:solidFill>
              </a:rPr>
              <a:t>Load:    pq.read_table("AGlobal4_Analysis.parquet", filters=[("PARAMETER","=","MSLP")]).to_pandas()</a:t>
            </a:r>
          </a:p>
          <a:p>
            <a:pPr algn="l"/>
            <a:r>
              <a:rPr sz="850" b="0">
                <a:solidFill>
                  <a:srgbClr val="6E6E78"/>
                </a:solidFill>
              </a:rPr>
              <a:t>Filter:  df[df["STAT_TYPE"] == "EnsembleStat"]  |  df[df["VX_MASK"] == "NH"]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ureau White">
  <a:themeElements>
    <a:clrScheme name="The Bureau of Meteorology">
      <a:dk1>
        <a:srgbClr val="000000"/>
      </a:dk1>
      <a:lt1>
        <a:srgbClr val="FFFFFF"/>
      </a:lt1>
      <a:dk2>
        <a:srgbClr val="424242"/>
      </a:dk2>
      <a:lt2>
        <a:srgbClr val="D5D5D5"/>
      </a:lt2>
      <a:accent1>
        <a:srgbClr val="2461E5"/>
      </a:accent1>
      <a:accent2>
        <a:srgbClr val="00C689"/>
      </a:accent2>
      <a:accent3>
        <a:srgbClr val="243700"/>
      </a:accent3>
      <a:accent4>
        <a:srgbClr val="001F43"/>
      </a:accent4>
      <a:accent5>
        <a:srgbClr val="B64916"/>
      </a:accent5>
      <a:accent6>
        <a:srgbClr val="F2F2DD"/>
      </a:accent6>
      <a:hlink>
        <a:srgbClr val="0563C1"/>
      </a:hlink>
      <a:folHlink>
        <a:srgbClr val="B649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E655F94-AA80-4AE6-8A4B-8D53EF74F0F0}" vid="{33BCC0EB-7301-4185-B422-3261A5FB69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1876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Times New Roman</vt:lpstr>
      <vt:lpstr>1_Bureau White</vt:lpstr>
      <vt:lpstr>Agenda</vt:lpstr>
      <vt:lpstr>Verification at the Bureau</vt:lpstr>
      <vt:lpstr>METplus – how its built</vt:lpstr>
      <vt:lpstr>METplus vs Jive/Scores</vt:lpstr>
      <vt:lpstr>Current status</vt:lpstr>
      <vt:lpstr>GoLD</vt:lpstr>
      <vt:lpstr>Expectations</vt:lpstr>
      <vt:lpstr>What do application services need?</vt:lpstr>
      <vt:lpstr>PowerPoint Presentation</vt:lpstr>
      <vt:lpstr>PowerPoint Presentation</vt:lpstr>
      <vt:lpstr>PowerPoint Presentation</vt:lpstr>
      <vt:lpstr>ACCESS-G/GE vs International NWP</vt:lpstr>
      <vt:lpstr>ACCESS-G/GE vs International NWP</vt:lpstr>
      <vt:lpstr>METplus - Wins</vt:lpstr>
      <vt:lpstr>What is ‘in production’?</vt:lpstr>
      <vt:lpstr>METplus – Not Wins</vt:lpstr>
      <vt:lpstr>Conclusion</vt:lpstr>
      <vt:lpstr>Speedhumps</vt:lpstr>
      <vt:lpstr>Previous Job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Dimech</dc:creator>
  <cp:lastModifiedBy>Brendan Dimech</cp:lastModifiedBy>
  <cp:revision>6</cp:revision>
  <dcterms:created xsi:type="dcterms:W3CDTF">2025-11-03T23:35:56Z</dcterms:created>
  <dcterms:modified xsi:type="dcterms:W3CDTF">2026-05-04T04:30:57Z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dad5e-85c4-4d99-839f-4db88ccef5c5_Enabled">
    <vt:lpwstr>true</vt:lpwstr>
  </property>
  <property fmtid="{D5CDD505-2E9C-101B-9397-08002B2CF9AE}" pid="3" name="MSIP_Label_55edad5e-85c4-4d99-839f-4db88ccef5c5_SetDate">
    <vt:lpwstr>2025-11-04T05:20:40Z</vt:lpwstr>
  </property>
  <property fmtid="{D5CDD505-2E9C-101B-9397-08002B2CF9AE}" pid="4" name="MSIP_Label_55edad5e-85c4-4d99-839f-4db88ccef5c5_Method">
    <vt:lpwstr>Standard</vt:lpwstr>
  </property>
  <property fmtid="{D5CDD505-2E9C-101B-9397-08002B2CF9AE}" pid="5" name="MSIP_Label_55edad5e-85c4-4d99-839f-4db88ccef5c5_Name">
    <vt:lpwstr>PSPF Official</vt:lpwstr>
  </property>
  <property fmtid="{D5CDD505-2E9C-101B-9397-08002B2CF9AE}" pid="6" name="MSIP_Label_55edad5e-85c4-4d99-839f-4db88ccef5c5_SiteId">
    <vt:lpwstr>d1ad7db5-97dd-4f2b-816e-50d663b7bb94</vt:lpwstr>
  </property>
  <property fmtid="{D5CDD505-2E9C-101B-9397-08002B2CF9AE}" pid="7" name="MSIP_Label_55edad5e-85c4-4d99-839f-4db88ccef5c5_ActionId">
    <vt:lpwstr>cf3e1f3f-f232-463b-af25-622468e79543</vt:lpwstr>
  </property>
  <property fmtid="{D5CDD505-2E9C-101B-9397-08002B2CF9AE}" pid="8" name="MSIP_Label_55edad5e-85c4-4d99-839f-4db88ccef5c5_ContentBits">
    <vt:lpwstr>3</vt:lpwstr>
  </property>
  <property fmtid="{D5CDD505-2E9C-101B-9397-08002B2CF9AE}" pid="9" name="MSIP_Label_55edad5e-85c4-4d99-839f-4db88ccef5c5_Tag">
    <vt:lpwstr>10, 3, 0, 1</vt:lpwstr>
  </property>
  <property fmtid="{D5CDD505-2E9C-101B-9397-08002B2CF9AE}" pid="10" name="ClassificationContentMarkingFooterLocations">
    <vt:lpwstr>1_Bureau White:6</vt:lpwstr>
  </property>
  <property fmtid="{D5CDD505-2E9C-101B-9397-08002B2CF9AE}" pid="11" name="ClassificationContentMarkingFooterText">
    <vt:lpwstr>OFFICIAL</vt:lpwstr>
  </property>
  <property fmtid="{D5CDD505-2E9C-101B-9397-08002B2CF9AE}" pid="12" name="ClassificationContentMarkingHeaderLocations">
    <vt:lpwstr>1_Bureau White:5</vt:lpwstr>
  </property>
  <property fmtid="{D5CDD505-2E9C-101B-9397-08002B2CF9AE}" pid="13" name="ClassificationContentMarkingHeaderText">
    <vt:lpwstr>OFFICIAL</vt:lpwstr>
  </property>
</Properties>
</file>