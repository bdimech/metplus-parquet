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9"/>
    <p:sldId id="257" r:id="rId10"/>
    <p:sldId id="258" r:id="rId11"/>
    <p:sldId id="259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AEB454-7570-712F-374C-A2760597B942}" name="Brendan Dimech" initials="BD" userId="Brendan Dimech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598FC5-930F-4E16-9028-85B3A147BADB}" v="11" dt="2026-04-08T05:02:55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6" y="1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Relationship Id="rId27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8F5E5-0A70-4E97-8321-6A822C915D51}" type="datetimeFigureOut">
              <a:rPr lang="en-AU" smtClean="0"/>
              <a:t>4/05/2026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F6796-B84A-4E5F-93E6-F05D9182C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95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2 Section 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668251" y="1835063"/>
            <a:ext cx="6655632" cy="94306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3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heading </a:t>
            </a:r>
            <a:br>
              <a:rPr lang="en-US"/>
            </a:br>
            <a:r>
              <a:rPr lang="en-US"/>
              <a:t>to go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68250" y="2911479"/>
            <a:ext cx="6655633" cy="365125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000" spc="-5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Subheading</a:t>
            </a:r>
          </a:p>
        </p:txBody>
      </p:sp>
      <p:pic>
        <p:nvPicPr>
          <p:cNvPr id="8" name="Picture 7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EE96DFD7-FAC1-4C46-90E6-A8D212A9E3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802" y="716850"/>
            <a:ext cx="735055" cy="5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2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Content Slide_Text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85554-C636-E2CD-0D2E-0FC72D90DC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8000" y="1265240"/>
            <a:ext cx="11125200" cy="46863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283D621-76A2-3C48-9F05-5A4764477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4460" y="6356354"/>
            <a:ext cx="202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CA7046-D314-6340-8D2C-B3889D9888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A picture containing light, vector graphics&#10;&#10;Description automatically generated">
            <a:extLst>
              <a:ext uri="{FF2B5EF4-FFF2-40B4-BE49-F238E27FC236}">
                <a16:creationId xmlns:a16="http://schemas.microsoft.com/office/drawing/2014/main" id="{651387BB-85B3-8E42-A2DC-0E9E86E5F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715" y="6356354"/>
            <a:ext cx="519487" cy="365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C16B67-E353-A245-8924-2478DF08B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1" y="425886"/>
            <a:ext cx="8902417" cy="46972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heading Arial Bold 25pt</a:t>
            </a:r>
          </a:p>
        </p:txBody>
      </p:sp>
    </p:spTree>
    <p:extLst>
      <p:ext uri="{BB962C8B-B14F-4D97-AF65-F5344CB8AC3E}">
        <p14:creationId xmlns:p14="http://schemas.microsoft.com/office/powerpoint/2010/main" val="1735612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96">
          <p15:clr>
            <a:srgbClr val="FBAE40"/>
          </p15:clr>
        </p15:guide>
        <p15:guide id="2" pos="227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orient="horz" pos="2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Content Slide_Text_Basic-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85554-C636-E2CD-0D2E-0FC72D90DC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8000" y="1816100"/>
            <a:ext cx="11125200" cy="413543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283D621-76A2-3C48-9F05-5A4764477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4460" y="6356354"/>
            <a:ext cx="202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CA7046-D314-6340-8D2C-B3889D9888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A picture containing light, vector graphics&#10;&#10;Description automatically generated">
            <a:extLst>
              <a:ext uri="{FF2B5EF4-FFF2-40B4-BE49-F238E27FC236}">
                <a16:creationId xmlns:a16="http://schemas.microsoft.com/office/drawing/2014/main" id="{651387BB-85B3-8E42-A2DC-0E9E86E5F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715" y="6356354"/>
            <a:ext cx="519487" cy="365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C16B67-E353-A245-8924-2478DF08B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1" y="425886"/>
            <a:ext cx="8902417" cy="46972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heading Arial Bold 25pt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CA4F93C-86E8-524A-AEE1-728CB4DBAB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265240"/>
            <a:ext cx="520386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Subtitle Arial 20pt</a:t>
            </a:r>
          </a:p>
        </p:txBody>
      </p:sp>
    </p:spTree>
    <p:extLst>
      <p:ext uri="{BB962C8B-B14F-4D97-AF65-F5344CB8AC3E}">
        <p14:creationId xmlns:p14="http://schemas.microsoft.com/office/powerpoint/2010/main" val="113162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96">
          <p15:clr>
            <a:srgbClr val="FBAE40"/>
          </p15:clr>
        </p15:guide>
        <p15:guide id="2" pos="227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orient="horz" pos="27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Content Slide_Text_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283D621-76A2-3C48-9F05-5A4764477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4460" y="6356354"/>
            <a:ext cx="202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CA7046-D314-6340-8D2C-B3889D9888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A picture containing light, vector graphics&#10;&#10;Description automatically generated">
            <a:extLst>
              <a:ext uri="{FF2B5EF4-FFF2-40B4-BE49-F238E27FC236}">
                <a16:creationId xmlns:a16="http://schemas.microsoft.com/office/drawing/2014/main" id="{651387BB-85B3-8E42-A2DC-0E9E86E5F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715" y="6356354"/>
            <a:ext cx="519487" cy="365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C16B67-E353-A245-8924-2478DF08B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1" y="425886"/>
            <a:ext cx="8902417" cy="46972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heading Arial Bold 25pt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CA4F93C-86E8-524A-AEE1-728CB4DBAB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265240"/>
            <a:ext cx="520386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Subtitle Arial 20pt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66A72BF-FCBE-4B34-B5C4-A1251BAD09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000" y="1816100"/>
            <a:ext cx="11125200" cy="4134698"/>
          </a:xfrm>
          <a:prstGeom prst="rect">
            <a:avLst/>
          </a:prstGeom>
        </p:spPr>
        <p:txBody>
          <a:bodyPr numCol="1" spcCol="360000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 spc="0"/>
              <a:t>Security classifications need to be set in the slide master. Go to View &gt; Slide Master, and edit the slide layouts used in your presentation.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pc="0"/>
              <a:t>Body text Arial 16pt.</a:t>
            </a:r>
          </a:p>
          <a:p>
            <a:pPr>
              <a:lnSpc>
                <a:spcPct val="100000"/>
              </a:lnSpc>
            </a:pPr>
            <a:r>
              <a:rPr lang="en-AU" b="0" i="0">
                <a:solidFill>
                  <a:srgbClr val="000000"/>
                </a:solidFill>
                <a:effectLst/>
              </a:rPr>
              <a:t>Lorem ipsum </a:t>
            </a:r>
            <a:r>
              <a:rPr lang="en-AU" b="0" i="0" err="1">
                <a:solidFill>
                  <a:srgbClr val="000000"/>
                </a:solidFill>
                <a:effectLst/>
              </a:rPr>
              <a:t>dolor</a:t>
            </a:r>
            <a:r>
              <a:rPr lang="en-AU" b="0" i="0">
                <a:solidFill>
                  <a:srgbClr val="000000"/>
                </a:solidFill>
                <a:effectLst/>
              </a:rPr>
              <a:t> sit </a:t>
            </a:r>
            <a:r>
              <a:rPr lang="en-AU" b="0" i="0" err="1">
                <a:solidFill>
                  <a:srgbClr val="000000"/>
                </a:solidFill>
                <a:effectLst/>
              </a:rPr>
              <a:t>amet</a:t>
            </a:r>
            <a:r>
              <a:rPr lang="en-AU" b="0" i="0">
                <a:solidFill>
                  <a:srgbClr val="000000"/>
                </a:solidFill>
                <a:effectLst/>
              </a:rPr>
              <a:t>, </a:t>
            </a:r>
            <a:r>
              <a:rPr lang="en-AU" b="0" i="0" err="1">
                <a:solidFill>
                  <a:srgbClr val="000000"/>
                </a:solidFill>
                <a:effectLst/>
              </a:rPr>
              <a:t>consectetur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adipiscing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elit</a:t>
            </a:r>
            <a:r>
              <a:rPr lang="en-AU" b="0" i="0">
                <a:solidFill>
                  <a:srgbClr val="000000"/>
                </a:solidFill>
                <a:effectLst/>
              </a:rPr>
              <a:t>. Proin </a:t>
            </a:r>
            <a:r>
              <a:rPr lang="en-AU" b="0" i="0" err="1">
                <a:solidFill>
                  <a:srgbClr val="000000"/>
                </a:solidFill>
                <a:effectLst/>
              </a:rPr>
              <a:t>viverra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augue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lectus</a:t>
            </a:r>
            <a:r>
              <a:rPr lang="en-AU" b="0" i="0">
                <a:solidFill>
                  <a:srgbClr val="000000"/>
                </a:solidFill>
                <a:effectLst/>
              </a:rPr>
              <a:t>, </a:t>
            </a:r>
            <a:r>
              <a:rPr lang="en-AU" b="0" i="0" err="1">
                <a:solidFill>
                  <a:srgbClr val="000000"/>
                </a:solidFill>
                <a:effectLst/>
              </a:rPr>
              <a:t>quis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sagittis</a:t>
            </a:r>
            <a:r>
              <a:rPr lang="en-AU" b="0" i="0">
                <a:solidFill>
                  <a:srgbClr val="000000"/>
                </a:solidFill>
                <a:effectLst/>
              </a:rPr>
              <a:t> mi </a:t>
            </a:r>
            <a:r>
              <a:rPr lang="en-AU" b="0" i="0" err="1">
                <a:solidFill>
                  <a:srgbClr val="000000"/>
                </a:solidFill>
                <a:effectLst/>
              </a:rPr>
              <a:t>facilisis</a:t>
            </a:r>
            <a:r>
              <a:rPr lang="en-AU" b="0" i="0">
                <a:solidFill>
                  <a:srgbClr val="000000"/>
                </a:solidFill>
                <a:effectLst/>
              </a:rPr>
              <a:t> in. </a:t>
            </a:r>
            <a:r>
              <a:rPr lang="en-AU" b="0" i="0" err="1">
                <a:solidFill>
                  <a:srgbClr val="000000"/>
                </a:solidFill>
                <a:effectLst/>
              </a:rPr>
              <a:t>Suspendisse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efficitur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justo</a:t>
            </a:r>
            <a:r>
              <a:rPr lang="en-AU" b="0" i="0">
                <a:solidFill>
                  <a:srgbClr val="000000"/>
                </a:solidFill>
                <a:effectLst/>
              </a:rPr>
              <a:t> a </a:t>
            </a:r>
            <a:r>
              <a:rPr lang="en-AU" b="0" i="0" err="1">
                <a:solidFill>
                  <a:srgbClr val="000000"/>
                </a:solidFill>
                <a:effectLst/>
              </a:rPr>
              <a:t>dolor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blandit</a:t>
            </a:r>
            <a:r>
              <a:rPr lang="en-AU" b="0" i="0">
                <a:solidFill>
                  <a:srgbClr val="000000"/>
                </a:solidFill>
                <a:effectLst/>
              </a:rPr>
              <a:t> dictum. </a:t>
            </a:r>
            <a:r>
              <a:rPr lang="en-AU" b="0" i="0" err="1">
                <a:solidFill>
                  <a:srgbClr val="000000"/>
                </a:solidFill>
                <a:effectLst/>
              </a:rPr>
              <a:t>Curabitur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quis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urna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tristique</a:t>
            </a:r>
            <a:r>
              <a:rPr lang="en-AU" b="0" i="0">
                <a:solidFill>
                  <a:srgbClr val="000000"/>
                </a:solidFill>
                <a:effectLst/>
              </a:rPr>
              <a:t>, </a:t>
            </a:r>
            <a:r>
              <a:rPr lang="en-AU" b="0" i="0" err="1">
                <a:solidFill>
                  <a:srgbClr val="000000"/>
                </a:solidFill>
                <a:effectLst/>
              </a:rPr>
              <a:t>euismod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neque</a:t>
            </a:r>
            <a:r>
              <a:rPr lang="en-AU" b="0" i="0">
                <a:solidFill>
                  <a:srgbClr val="000000"/>
                </a:solidFill>
                <a:effectLst/>
              </a:rPr>
              <a:t> a, </a:t>
            </a:r>
            <a:r>
              <a:rPr lang="en-AU" b="0" i="0" err="1">
                <a:solidFill>
                  <a:srgbClr val="000000"/>
                </a:solidFill>
                <a:effectLst/>
              </a:rPr>
              <a:t>molestie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orci</a:t>
            </a:r>
            <a:r>
              <a:rPr lang="en-AU" b="0" i="0">
                <a:solidFill>
                  <a:srgbClr val="000000"/>
                </a:solidFill>
                <a:effectLst/>
              </a:rPr>
              <a:t>. </a:t>
            </a:r>
            <a:r>
              <a:rPr lang="en-AU" b="0" i="0" err="1">
                <a:solidFill>
                  <a:srgbClr val="000000"/>
                </a:solidFill>
                <a:effectLst/>
              </a:rPr>
              <a:t>Aliquam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accumsan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varius</a:t>
            </a:r>
            <a:r>
              <a:rPr lang="en-AU" b="0" i="0">
                <a:solidFill>
                  <a:srgbClr val="000000"/>
                </a:solidFill>
                <a:effectLst/>
              </a:rPr>
              <a:t> diam, vitae </a:t>
            </a:r>
            <a:r>
              <a:rPr lang="en-AU" b="0" i="0" err="1">
                <a:solidFill>
                  <a:srgbClr val="000000"/>
                </a:solidFill>
                <a:effectLst/>
              </a:rPr>
              <a:t>sollicitudin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metus</a:t>
            </a:r>
            <a:r>
              <a:rPr lang="en-AU" b="0" i="0">
                <a:solidFill>
                  <a:srgbClr val="000000"/>
                </a:solidFill>
                <a:effectLst/>
              </a:rPr>
              <a:t> </a:t>
            </a:r>
            <a:r>
              <a:rPr lang="en-AU" b="0" i="0" err="1">
                <a:solidFill>
                  <a:srgbClr val="000000"/>
                </a:solidFill>
                <a:effectLst/>
              </a:rPr>
              <a:t>tincidunt</a:t>
            </a:r>
            <a:r>
              <a:rPr lang="en-AU" b="0" i="0">
                <a:solidFill>
                  <a:srgbClr val="000000"/>
                </a:solidFill>
                <a:effectLst/>
              </a:rPr>
              <a:t> non. </a:t>
            </a:r>
          </a:p>
        </p:txBody>
      </p:sp>
    </p:spTree>
    <p:extLst>
      <p:ext uri="{BB962C8B-B14F-4D97-AF65-F5344CB8AC3E}">
        <p14:creationId xmlns:p14="http://schemas.microsoft.com/office/powerpoint/2010/main" val="2062513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96">
          <p15:clr>
            <a:srgbClr val="FBAE40"/>
          </p15:clr>
        </p15:guide>
        <p15:guide id="2" pos="227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orient="horz" pos="27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Content Slide_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FEAB78-CB7D-644D-AB42-F3281530DF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8001" y="1268413"/>
            <a:ext cx="11125201" cy="4682386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1" name="Picture 10" descr="A picture containing light, vector graphics&#10;&#10;Description automatically generated">
            <a:extLst>
              <a:ext uri="{FF2B5EF4-FFF2-40B4-BE49-F238E27FC236}">
                <a16:creationId xmlns:a16="http://schemas.microsoft.com/office/drawing/2014/main" id="{651387BB-85B3-8E42-A2DC-0E9E86E5F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715" y="6356354"/>
            <a:ext cx="519487" cy="3651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092A186-EA84-9D61-15EF-4F7BA3EC0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1" y="425886"/>
            <a:ext cx="8902417" cy="46972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heading Arial Bold 25pt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6B14A7-8CA9-FC4B-25F7-89D3DFE7C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4460" y="6356354"/>
            <a:ext cx="202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CA7046-D314-6340-8D2C-B3889D9888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01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96">
          <p15:clr>
            <a:srgbClr val="FBAE40"/>
          </p15:clr>
        </p15:guide>
        <p15:guide id="3" pos="227">
          <p15:clr>
            <a:srgbClr val="FBAE40"/>
          </p15:clr>
        </p15:guide>
        <p15:guide id="4" orient="horz" pos="278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7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Content Slide_One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CB4B048F-49DB-294C-9B64-6DDC07BC8801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508001" y="1268411"/>
            <a:ext cx="11125201" cy="4683600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1" name="Picture 10" descr="A picture containing light, vector graphics&#10;&#10;Description automatically generated">
            <a:extLst>
              <a:ext uri="{FF2B5EF4-FFF2-40B4-BE49-F238E27FC236}">
                <a16:creationId xmlns:a16="http://schemas.microsoft.com/office/drawing/2014/main" id="{651387BB-85B3-8E42-A2DC-0E9E86E5F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715" y="6356354"/>
            <a:ext cx="519487" cy="3651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9E56136-2946-CB17-DB06-D221E79D1C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1" y="425886"/>
            <a:ext cx="8902417" cy="46972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heading Arial Bold 25pt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4937D7-57DF-3C58-3756-E1603928F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4460" y="6356354"/>
            <a:ext cx="202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CA7046-D314-6340-8D2C-B3889D9888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4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96">
          <p15:clr>
            <a:srgbClr val="FBAE40"/>
          </p15:clr>
        </p15:guide>
        <p15:guide id="2" pos="227">
          <p15:clr>
            <a:srgbClr val="FBAE40"/>
          </p15:clr>
        </p15:guide>
        <p15:guide id="4" orient="horz" pos="278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Content Slide_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FEAB78-CB7D-644D-AB42-F3281530DF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265238"/>
            <a:ext cx="5537200" cy="2328122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8FB6355-3F99-E543-AC08-CA31FD17422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3708892"/>
            <a:ext cx="5537200" cy="2328122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1" name="Picture 10" descr="A picture containing light, vector graphics&#10;&#10;Description automatically generated">
            <a:extLst>
              <a:ext uri="{FF2B5EF4-FFF2-40B4-BE49-F238E27FC236}">
                <a16:creationId xmlns:a16="http://schemas.microsoft.com/office/drawing/2014/main" id="{651387BB-85B3-8E42-A2DC-0E9E86E5F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715" y="6356354"/>
            <a:ext cx="519487" cy="3651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B2F0F-7002-FC4D-BB36-DA6A776F7F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265240"/>
            <a:ext cx="520386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Subtitle Arial 20pt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1612F22-3086-1D4B-847F-BFDD0B943D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000" y="1816100"/>
            <a:ext cx="5204885" cy="4228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Body text Arial 16pt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B53D0-589A-14B8-CB75-2B87D3779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4460" y="6356354"/>
            <a:ext cx="202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CA7046-D314-6340-8D2C-B3889D9888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70D4FDD-BB80-BBC5-6378-519EB9C39A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1" y="425886"/>
            <a:ext cx="8902417" cy="46972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heading Arial Bold 25pt</a:t>
            </a:r>
          </a:p>
        </p:txBody>
      </p:sp>
    </p:spTree>
    <p:extLst>
      <p:ext uri="{BB962C8B-B14F-4D97-AF65-F5344CB8AC3E}">
        <p14:creationId xmlns:p14="http://schemas.microsoft.com/office/powerpoint/2010/main" val="709922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96">
          <p15:clr>
            <a:srgbClr val="FBAE40"/>
          </p15:clr>
        </p15:guide>
        <p15:guide id="3" pos="227">
          <p15:clr>
            <a:srgbClr val="FBAE40"/>
          </p15:clr>
        </p15:guide>
        <p15:guide id="4" orient="horz" pos="278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7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3 Content Slide_Chart-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light, vector graphics&#10;&#10;Description automatically generated">
            <a:extLst>
              <a:ext uri="{FF2B5EF4-FFF2-40B4-BE49-F238E27FC236}">
                <a16:creationId xmlns:a16="http://schemas.microsoft.com/office/drawing/2014/main" id="{651387BB-85B3-8E42-A2DC-0E9E86E5F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715" y="6356354"/>
            <a:ext cx="519487" cy="365125"/>
          </a:xfrm>
          <a:prstGeom prst="rect">
            <a:avLst/>
          </a:prstGeom>
        </p:spPr>
      </p:pic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9FF98915-3EA7-53CE-98FB-C31D0352D5F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7999" y="1903719"/>
            <a:ext cx="11125200" cy="4175464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579B3-2054-F567-E21B-68C374AF6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4460" y="6356354"/>
            <a:ext cx="202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CA7046-D314-6340-8D2C-B3889D9888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CE2C3E8-A186-9CD3-B18F-4E92380ED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1" y="425886"/>
            <a:ext cx="8902417" cy="46972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heading Arial Bold 25pt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AF0DDC6-6ABC-232F-AA95-9D8F7C890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265240"/>
            <a:ext cx="1112520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pc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Subtitle Arial 20pt</a:t>
            </a:r>
          </a:p>
        </p:txBody>
      </p:sp>
    </p:spTree>
    <p:extLst>
      <p:ext uri="{BB962C8B-B14F-4D97-AF65-F5344CB8AC3E}">
        <p14:creationId xmlns:p14="http://schemas.microsoft.com/office/powerpoint/2010/main" val="802151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96">
          <p15:clr>
            <a:srgbClr val="FBAE40"/>
          </p15:clr>
        </p15:guide>
        <p15:guide id="3" pos="227">
          <p15:clr>
            <a:srgbClr val="FBAE40"/>
          </p15:clr>
        </p15:guide>
        <p15:guide id="4" orient="horz" pos="278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7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Content Slide_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light, vector graphics&#10;&#10;Description automatically generated">
            <a:extLst>
              <a:ext uri="{FF2B5EF4-FFF2-40B4-BE49-F238E27FC236}">
                <a16:creationId xmlns:a16="http://schemas.microsoft.com/office/drawing/2014/main" id="{651387BB-85B3-8E42-A2DC-0E9E86E5F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715" y="6356354"/>
            <a:ext cx="519487" cy="36512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FEAB78-CB7D-644D-AB42-F3281530DF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8001" y="1268412"/>
            <a:ext cx="5336785" cy="4683600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0F2FFE4A-6EDC-054F-A395-35CB84DDF1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6419" y="1268412"/>
            <a:ext cx="5336783" cy="4683600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AF0933-2D36-214A-9E3B-B173355C57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1" y="425886"/>
            <a:ext cx="8902417" cy="46972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heading Arial Bold 25pt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F76C319-DF9C-3F44-BF39-C77F977A6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4460" y="6356354"/>
            <a:ext cx="202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CA7046-D314-6340-8D2C-B3889D9888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31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96">
          <p15:clr>
            <a:srgbClr val="FBAE40"/>
          </p15:clr>
        </p15:guide>
        <p15:guide id="3" pos="227">
          <p15:clr>
            <a:srgbClr val="FBAE40"/>
          </p15:clr>
        </p15:guide>
        <p15:guide id="4" orient="horz" pos="278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79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Content Slide_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4C38238-0976-D845-8170-7D1B690596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8002" y="3683315"/>
            <a:ext cx="5336783" cy="2251454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6A7839C2-DFEF-554F-ADCD-0E2891D23B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8001" y="1265239"/>
            <a:ext cx="5336783" cy="2251453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5AA1B4DC-B267-F44D-9040-EFDEAFF98EC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96419" y="3683315"/>
            <a:ext cx="5336783" cy="2251454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DD452DB2-84AA-5A4F-AD91-71633B945F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6418" y="1265237"/>
            <a:ext cx="5336783" cy="2251454"/>
          </a:xfrm>
          <a:prstGeom prst="rect">
            <a:avLst/>
          </a:prstGeom>
        </p:spPr>
        <p:txBody>
          <a:bodyPr/>
          <a:lstStyle>
            <a:lvl1pPr>
              <a:defRPr sz="160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1" name="Picture 10" descr="A picture containing light, vector graphics&#10;&#10;Description automatically generated">
            <a:extLst>
              <a:ext uri="{FF2B5EF4-FFF2-40B4-BE49-F238E27FC236}">
                <a16:creationId xmlns:a16="http://schemas.microsoft.com/office/drawing/2014/main" id="{651387BB-85B3-8E42-A2DC-0E9E86E5F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715" y="6356354"/>
            <a:ext cx="519487" cy="3651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8542795-3409-9218-CB73-0D1512BDF6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1" y="425886"/>
            <a:ext cx="8902417" cy="46972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heading Arial Bold 25pt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2615BCC-350B-78C6-B15A-0BEC082EC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4460" y="6356354"/>
            <a:ext cx="2020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CA7046-D314-6340-8D2C-B3889D9888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39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96">
          <p15:clr>
            <a:srgbClr val="FBAE40"/>
          </p15:clr>
        </p15:guide>
        <p15:guide id="3" pos="227">
          <p15:clr>
            <a:srgbClr val="FBAE40"/>
          </p15:clr>
        </p15:guide>
        <p15:guide id="4" orient="horz" pos="278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A757-ECCC-6F9A-5BA5-13760AED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82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231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126A44-4790-9F3F-E52F-9D15134EC97F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728917" y="0"/>
            <a:ext cx="3463083" cy="432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68B39F-514B-6A6E-373D-8C184F299A7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6412" y="635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86CC2-7C45-65B8-31CC-10CCB0F5D62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6412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5649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2064" y="4297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461E5"/>
                </a:solidFill>
              </a:rPr>
              <a:t>What We Get: METplus Verification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</a:rPr>
              <a:t>METplus runs routine NWP verification and writes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results to structured output folders.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Each configuration produces a folder named: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  &lt;Model&gt;_&lt;Obs&gt;_&lt;Parameter&gt;_&lt;Timestep&gt;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Inside each folder are daily YYYYMMDDHH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subdirectories, each containing .stat files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for every forecast lead time and domain.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Two types of verification output: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  GridStat  — deterministic scores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  (bias, RMSE, MAE)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  EnsembleStat — ensemble scores</a:t>
            </a:r>
          </a:p>
          <a:p>
            <a:pPr algn="l"/>
            <a:r>
              <a:rPr sz="1100" b="0">
                <a:solidFill>
                  <a:srgbClr val="2D2D2D"/>
                </a:solidFill>
              </a:rPr>
              <a:t>  (CRPS, Spread, Skill Score)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669280" cy="365760"/>
          </a:xfrm>
          <a:prstGeom prst="rect">
            <a:avLst/>
          </a:prstGeom>
          <a:solidFill>
            <a:srgbClr val="2461E5"/>
          </a:solidFill>
          <a:ln w="9525"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input_all/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2743200" cy="347472"/>
          </a:xfrm>
          <a:prstGeom prst="rect">
            <a:avLst/>
          </a:prstGeom>
          <a:solidFill>
            <a:srgbClr val="EBF3FF"/>
          </a:solidFill>
          <a:ln w="6350"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AGlobal4_Analysis_T_AllLevels_00Z/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554480"/>
            <a:ext cx="2743200" cy="347472"/>
          </a:xfrm>
          <a:prstGeom prst="rect">
            <a:avLst/>
          </a:prstGeom>
          <a:solidFill>
            <a:srgbClr val="EBF3FF"/>
          </a:solidFill>
          <a:ln w="6350"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AGlobal4E_Analysis_T850_00Z/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9520" y="1371600"/>
            <a:ext cx="0" cy="1828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424159" y="1371600"/>
            <a:ext cx="0" cy="1828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0" y="1371600"/>
            <a:ext cx="2834639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17920" y="2057400"/>
            <a:ext cx="274320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GridStat/  2026041000/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532888"/>
            <a:ext cx="841248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>
                <a:solidFill>
                  <a:srgbClr val="107C10"/>
                </a:solidFill>
              </a:rPr>
              <a:t>_cnt.txt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4888" y="2532888"/>
            <a:ext cx="896112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>
                <a:solidFill>
                  <a:srgbClr val="107C10"/>
                </a:solidFill>
              </a:rPr>
              <a:t>_sl1l2.txt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532888"/>
            <a:ext cx="896112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>
                <a:solidFill>
                  <a:srgbClr val="107C10"/>
                </a:solidFill>
              </a:rPr>
              <a:t>_sal1l2.txt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057400"/>
            <a:ext cx="13258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GridStat/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69880" y="2057400"/>
            <a:ext cx="13258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EnsembleStat/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532888"/>
            <a:ext cx="1325880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>
                <a:solidFill>
                  <a:srgbClr val="107C10"/>
                </a:solidFill>
              </a:rPr>
              <a:t>_cnt.txt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9880" y="2532888"/>
            <a:ext cx="1325880" cy="256032"/>
          </a:xfrm>
          <a:prstGeom prst="rect">
            <a:avLst/>
          </a:prstGeom>
          <a:solidFill>
            <a:srgbClr val="FEF0E7"/>
          </a:solidFill>
          <a:ln w="6350">
            <a:solidFill>
              <a:srgbClr val="CC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>
                <a:solidFill>
                  <a:srgbClr val="CC5000"/>
                </a:solidFill>
              </a:rPr>
              <a:t>_ecnt.txt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971800"/>
            <a:ext cx="5669280" cy="9144"/>
          </a:xfrm>
          <a:prstGeom prst="rect">
            <a:avLst/>
          </a:prstGeom>
          <a:solidFill>
            <a:srgbClr val="CCCC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063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06060"/>
                </a:solidFill>
              </a:rPr>
              <a:t>Legend: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337560"/>
            <a:ext cx="914400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>
                <a:solidFill>
                  <a:srgbClr val="107C10"/>
                </a:solidFill>
              </a:rPr>
              <a:t>GridStat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D2D2D"/>
                </a:solidFill>
              </a:rPr>
              <a:t>Deterministic stats (CNT, SL1L2, SAL1L2)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3337560"/>
            <a:ext cx="1097280" cy="256032"/>
          </a:xfrm>
          <a:prstGeom prst="rect">
            <a:avLst/>
          </a:prstGeom>
          <a:solidFill>
            <a:srgbClr val="FEF0E7"/>
          </a:solidFill>
          <a:ln w="6350">
            <a:solidFill>
              <a:srgbClr val="CC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>
                <a:solidFill>
                  <a:srgbClr val="CC5000"/>
                </a:solidFill>
              </a:rPr>
              <a:t>EnsembleStat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D2D2D"/>
                </a:solidFill>
              </a:rPr>
              <a:t>Ensemble stats (ECNT)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2064" y="4297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461E5"/>
                </a:solidFill>
              </a:rPr>
              <a:t>What We Do: Conversion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86000"/>
            <a:ext cx="2011680" cy="594360"/>
          </a:xfrm>
          <a:prstGeom prst="rect">
            <a:avLst/>
          </a:prstGeom>
          <a:solidFill>
            <a:srgbClr val="EBF3FF"/>
          </a:solidFill>
          <a:ln w="12700"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D2D2D"/>
                </a:solidFill>
              </a:rPr>
              <a:t>Input Folders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583180"/>
            <a:ext cx="274320" cy="0"/>
          </a:xfrm>
          <a:prstGeom prst="line">
            <a:avLst/>
          </a:prstGeom>
          <a:ln w="19050">
            <a:solidFill>
              <a:srgbClr val="246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697480" y="2286000"/>
            <a:ext cx="2011680" cy="594360"/>
          </a:xfrm>
          <a:prstGeom prst="rect">
            <a:avLst/>
          </a:prstGeom>
          <a:solidFill>
            <a:srgbClr val="EBF3FF"/>
          </a:solidFill>
          <a:ln w="12700"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D2D2D"/>
                </a:solidFill>
              </a:rPr>
              <a:t>Read &amp; Parse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2583180"/>
            <a:ext cx="274320" cy="0"/>
          </a:xfrm>
          <a:prstGeom prst="line">
            <a:avLst/>
          </a:prstGeom>
          <a:ln w="19050">
            <a:solidFill>
              <a:srgbClr val="246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83480" y="2286000"/>
            <a:ext cx="2011680" cy="594360"/>
          </a:xfrm>
          <a:prstGeom prst="rect">
            <a:avLst/>
          </a:prstGeom>
          <a:solidFill>
            <a:srgbClr val="EBF3FF"/>
          </a:solidFill>
          <a:ln w="12700"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D2D2D"/>
                </a:solidFill>
              </a:rPr>
              <a:t>Merge &amp; Clean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95160" y="2583180"/>
            <a:ext cx="274320" cy="0"/>
          </a:xfrm>
          <a:prstGeom prst="line">
            <a:avLst/>
          </a:prstGeom>
          <a:ln w="19050">
            <a:solidFill>
              <a:srgbClr val="246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269480" y="2286000"/>
            <a:ext cx="2011680" cy="594360"/>
          </a:xfrm>
          <a:prstGeom prst="rect">
            <a:avLst/>
          </a:prstGeom>
          <a:solidFill>
            <a:srgbClr val="EBF3FF"/>
          </a:solidFill>
          <a:ln w="12700"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D2D2D"/>
                </a:solidFill>
              </a:rPr>
              <a:t>Group by
Model / Obs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81160" y="2583180"/>
            <a:ext cx="274320" cy="0"/>
          </a:xfrm>
          <a:prstGeom prst="line">
            <a:avLst/>
          </a:prstGeom>
          <a:ln w="19050">
            <a:solidFill>
              <a:srgbClr val="246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555480" y="2286000"/>
            <a:ext cx="201168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107C10"/>
                </a:solidFill>
              </a:rPr>
              <a:t>Parquet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990088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</a:rPr>
              <a:t>Config folders: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&lt;Model&gt;_&lt;Obs&gt;_&lt;Param&gt;_&lt;TS&gt;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GridStat/ or EnsembleStat/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YYYYMMDDHH subdirectories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90088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</a:rPr>
              <a:t>CNT, SL1L2, SAL1L2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(GridStat)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ECNT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(EnsembleStat)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990088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</a:rPr>
              <a:t>Drop metadata cols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Convert lead → hours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Add PARAMETER column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Numeric type 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990088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</a:rPr>
              <a:t>One output per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model + obs pair: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AGlobal4_Analysis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AGlobal4E_Analysis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990088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2D2D"/>
                </a:solidFill>
              </a:rPr>
              <a:t>One .parquet per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model/obs pair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All parameters</a:t>
            </a:r>
          </a:p>
          <a:p>
            <a:pPr algn="ctr"/>
            <a:r>
              <a:rPr sz="900" b="0">
                <a:solidFill>
                  <a:srgbClr val="2D2D2D"/>
                </a:solidFill>
              </a:rPr>
              <a:t>All timesteps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4617720"/>
            <a:ext cx="84124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50" b="0">
                <a:solidFill>
                  <a:srgbClr val="606060"/>
                </a:solidFill>
              </a:rPr>
              <a:t>Re-running is safe — already-loaded init dates are skipped per PARAMETER and STAT_TYPE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2064" y="4297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461E5"/>
                </a:solidFill>
              </a:rPr>
              <a:t>What the Outputs Look Like: Parquet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D2D2D"/>
                </a:solidFill>
              </a:rPr>
              <a:t>Each row = one unique combination of init date, lead time, pressure level, domain, parameter, and stat type.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1508760" cy="292608"/>
          </a:xfrm>
          <a:prstGeom prst="rect">
            <a:avLst/>
          </a:prstGeom>
          <a:solidFill>
            <a:srgbClr val="2461E5"/>
          </a:solidFill>
          <a:ln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463040"/>
            <a:ext cx="1417320" cy="292608"/>
          </a:xfrm>
          <a:prstGeom prst="rect">
            <a:avLst/>
          </a:prstGeom>
          <a:solidFill>
            <a:srgbClr val="2461E5"/>
          </a:solidFill>
          <a:ln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STAT_TYPE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463040"/>
            <a:ext cx="1417320" cy="292608"/>
          </a:xfrm>
          <a:prstGeom prst="rect">
            <a:avLst/>
          </a:prstGeom>
          <a:solidFill>
            <a:srgbClr val="2461E5"/>
          </a:solidFill>
          <a:ln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INIT_DATE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463040"/>
            <a:ext cx="1280160" cy="292608"/>
          </a:xfrm>
          <a:prstGeom prst="rect">
            <a:avLst/>
          </a:prstGeom>
          <a:solidFill>
            <a:srgbClr val="2461E5"/>
          </a:solidFill>
          <a:ln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FCST_LEAD_H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1234440" cy="292608"/>
          </a:xfrm>
          <a:prstGeom prst="rect">
            <a:avLst/>
          </a:prstGeom>
          <a:solidFill>
            <a:srgbClr val="2461E5"/>
          </a:solidFill>
          <a:ln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FCST_LEV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463040"/>
            <a:ext cx="1234440" cy="292608"/>
          </a:xfrm>
          <a:prstGeom prst="rect">
            <a:avLst/>
          </a:prstGeom>
          <a:solidFill>
            <a:srgbClr val="2461E5"/>
          </a:solidFill>
          <a:ln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VX_MASK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463040"/>
            <a:ext cx="1600200" cy="292608"/>
          </a:xfrm>
          <a:prstGeom prst="rect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ME / RMSE / MAE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24160" y="1463040"/>
            <a:ext cx="1645920" cy="292608"/>
          </a:xfrm>
          <a:prstGeom prst="rect">
            <a:avLst/>
          </a:prstGeom>
          <a:solidFill>
            <a:srgbClr val="CC5000"/>
          </a:solidFill>
          <a:ln>
            <a:solidFill>
              <a:srgbClr val="CC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1">
                <a:solidFill>
                  <a:srgbClr val="FFFFFF"/>
                </a:solidFill>
              </a:rPr>
              <a:t>CRPS / SPREAD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755648"/>
            <a:ext cx="15087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T_AllLevels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1755648"/>
            <a:ext cx="1417320" cy="292608"/>
          </a:xfrm>
          <a:prstGeom prst="rect">
            <a:avLst/>
          </a:prstGeom>
          <a:solidFill>
            <a:srgbClr val="E8F5E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107C10"/>
                </a:solidFill>
              </a:rPr>
              <a:t>GridStat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755648"/>
            <a:ext cx="1417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2026-04-10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1755648"/>
            <a:ext cx="12801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55648"/>
            <a:ext cx="12344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P850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1755648"/>
            <a:ext cx="12344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Australia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755648"/>
            <a:ext cx="16002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−0.5 / 1.87 / 1.43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60" y="1755648"/>
            <a:ext cx="16459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048256"/>
            <a:ext cx="150876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MSLP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2048256"/>
            <a:ext cx="1417320" cy="292608"/>
          </a:xfrm>
          <a:prstGeom prst="rect">
            <a:avLst/>
          </a:prstGeom>
          <a:solidFill>
            <a:srgbClr val="E8F5E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107C10"/>
                </a:solidFill>
              </a:rPr>
              <a:t>GridStat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2048256"/>
            <a:ext cx="141732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2026-04-10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2048256"/>
            <a:ext cx="128016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48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048256"/>
            <a:ext cx="123444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L0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048256"/>
            <a:ext cx="123444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NH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2048256"/>
            <a:ext cx="160020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0.3 / 2.1 / 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2048256"/>
            <a:ext cx="164592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340864"/>
            <a:ext cx="15087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T850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5960" y="2340864"/>
            <a:ext cx="1417320" cy="292608"/>
          </a:xfrm>
          <a:prstGeom prst="rect">
            <a:avLst/>
          </a:prstGeom>
          <a:solidFill>
            <a:srgbClr val="FEF0E7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CC5000"/>
                </a:solidFill>
              </a:rPr>
              <a:t>EnsembleStat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2340864"/>
            <a:ext cx="14173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2026-04-15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2340864"/>
            <a:ext cx="12801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340864"/>
            <a:ext cx="12344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P850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2340864"/>
            <a:ext cx="12344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NH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2340864"/>
            <a:ext cx="16002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0.28 / 3.26 / 2.26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2340864"/>
            <a:ext cx="16459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1.62 / 2.73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633472"/>
            <a:ext cx="150876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Wind_AllLevels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65960" y="2633472"/>
            <a:ext cx="1417320" cy="292608"/>
          </a:xfrm>
          <a:prstGeom prst="rect">
            <a:avLst/>
          </a:prstGeom>
          <a:solidFill>
            <a:srgbClr val="E8F5E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107C10"/>
                </a:solidFill>
              </a:rPr>
              <a:t>GridStat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9000" y="2633472"/>
            <a:ext cx="141732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2026-04-15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2633472"/>
            <a:ext cx="128016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72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2633472"/>
            <a:ext cx="123444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P250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2633472"/>
            <a:ext cx="123444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78240" y="2633472"/>
            <a:ext cx="160020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0.1 / 2.4 / 1.9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24160" y="2633472"/>
            <a:ext cx="1645920" cy="292608"/>
          </a:xfrm>
          <a:prstGeom prst="rect">
            <a:avLst/>
          </a:prstGeom>
          <a:solidFill>
            <a:srgbClr val="F2F2F2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50" b="0">
                <a:solidFill>
                  <a:srgbClr val="2D2D2D"/>
                </a:solidFill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090672"/>
            <a:ext cx="1280160" cy="256032"/>
          </a:xfrm>
          <a:prstGeom prst="rect">
            <a:avLst/>
          </a:prstGeom>
          <a:solidFill>
            <a:srgbClr val="2461E5"/>
          </a:solidFill>
          <a:ln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>
                <a:solidFill>
                  <a:srgbClr val="FFFFFF"/>
                </a:solidFill>
              </a:rPr>
              <a:t>Index columns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83080" y="3090672"/>
            <a:ext cx="1280160" cy="256032"/>
          </a:xfrm>
          <a:prstGeom prst="rect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>
                <a:solidFill>
                  <a:srgbClr val="FFFFFF"/>
                </a:solidFill>
              </a:rPr>
              <a:t>GridStat stats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54680" y="3090672"/>
            <a:ext cx="1463040" cy="256032"/>
          </a:xfrm>
          <a:prstGeom prst="rect">
            <a:avLst/>
          </a:prstGeom>
          <a:solidFill>
            <a:srgbClr val="CC5000"/>
          </a:solidFill>
          <a:ln>
            <a:solidFill>
              <a:srgbClr val="CC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0">
                <a:solidFill>
                  <a:srgbClr val="FFFFFF"/>
                </a:solidFill>
              </a:rPr>
              <a:t>EnsembleStat stats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34381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</a:rPr>
              <a:t>Constant columns (model, variable, units, obs type) are stripped from rows and embedded as file-level Parquet metadata.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2064" y="4297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461E5"/>
                </a:solidFill>
              </a:rPr>
              <a:t>How We Can Use the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2103120" cy="502920"/>
          </a:xfrm>
          <a:prstGeom prst="rect">
            <a:avLst/>
          </a:prstGeom>
          <a:solidFill>
            <a:srgbClr val="EBF3FF"/>
          </a:solidFill>
          <a:ln w="12700"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461E5"/>
                </a:solidFill>
              </a:rPr>
              <a:t>Single Model
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1848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</a:rPr>
              <a:t>Load one model's file, filter to a</a:t>
            </a:r>
          </a:p>
          <a:p>
            <a:pPr algn="l"/>
            <a:r>
              <a:rPr sz="1000" b="0">
                <a:solidFill>
                  <a:srgbClr val="2D2D2D"/>
                </a:solidFill>
              </a:rPr>
              <a:t>parameter, level and domain, and</a:t>
            </a:r>
          </a:p>
          <a:p>
            <a:pPr algn="l"/>
            <a:r>
              <a:rPr sz="1000" b="0">
                <a:solidFill>
                  <a:srgbClr val="2D2D2D"/>
                </a:solidFill>
              </a:rPr>
              <a:t>plot any metric by lead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2103120" cy="502920"/>
          </a:xfrm>
          <a:prstGeom prst="rect">
            <a:avLst/>
          </a:prstGeom>
          <a:solidFill>
            <a:srgbClr val="EBF3FF"/>
          </a:solidFill>
          <a:ln w="12700">
            <a:solidFill>
              <a:srgbClr val="246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461E5"/>
                </a:solidFill>
              </a:rPr>
              <a:t>Cross-Model
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55848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</a:rPr>
              <a:t>Load two files side-by-side, filter</a:t>
            </a:r>
          </a:p>
          <a:p>
            <a:pPr algn="l"/>
            <a:r>
              <a:rPr sz="1000" b="0">
                <a:solidFill>
                  <a:srgbClr val="2D2D2D"/>
                </a:solidFill>
              </a:rPr>
              <a:t>to the same parameter and domain,</a:t>
            </a:r>
          </a:p>
          <a:p>
            <a:pPr algn="l"/>
            <a:r>
              <a:rPr sz="1000" b="0">
                <a:solidFill>
                  <a:srgbClr val="2D2D2D"/>
                </a:solidFill>
              </a:rPr>
              <a:t>and compare RMSE or bias.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526279"/>
            <a:ext cx="2103120" cy="502920"/>
          </a:xfrm>
          <a:prstGeom prst="rect">
            <a:avLst/>
          </a:prstGeom>
          <a:solidFill>
            <a:srgbClr val="FEF0E7"/>
          </a:solidFill>
          <a:ln w="12700">
            <a:solidFill>
              <a:srgbClr val="CC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CC5000"/>
                </a:solidFill>
              </a:rPr>
              <a:t>Ensemble
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093207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</a:rPr>
              <a:t>Filter STAT_TYPE = EnsembleStat</a:t>
            </a:r>
          </a:p>
          <a:p>
            <a:pPr algn="l"/>
            <a:r>
              <a:rPr sz="1000" b="0">
                <a:solidFill>
                  <a:srgbClr val="2D2D2D"/>
                </a:solidFill>
              </a:rPr>
              <a:t>to access CRPS and Spread.</a:t>
            </a:r>
          </a:p>
          <a:p>
            <a:pPr algn="l"/>
            <a:r>
              <a:rPr sz="1000" b="0">
                <a:solidFill>
                  <a:srgbClr val="2D2D2D"/>
                </a:solidFill>
              </a:rPr>
              <a:t>Check Spread ≈ RMSE for calibration.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005840"/>
            <a:ext cx="9235440" cy="5029200"/>
          </a:xfrm>
          <a:prstGeom prst="rect">
            <a:avLst/>
          </a:prstGeom>
          <a:solidFill>
            <a:srgbClr val="1E1E2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 bIns="73152"/>
          <a:lstStyle/>
          <a:p>
            <a:pPr algn="ctr"/>
            <a:r>
              <a:rPr sz="950">
                <a:solidFill>
                  <a:srgbClr val="569CD6"/>
                </a:solidFill>
              </a:rPr>
              <a:t>import pyarrow.parquet as pq</a:t>
            </a:r>
          </a:p>
          <a:p>
            <a:r>
              <a:rPr sz="950">
                <a:solidFill>
                  <a:srgbClr val="CED1D8"/>
                </a:solidFill>
              </a:rPr>
              <a:t/>
            </a:r>
          </a:p>
          <a:p>
            <a:r>
              <a:rPr sz="950">
                <a:solidFill>
                  <a:srgbClr val="6A9955"/>
                </a:solidFill>
              </a:rPr>
              <a:t># Load a model dataset</a:t>
            </a:r>
          </a:p>
          <a:p>
            <a:r>
              <a:rPr sz="950">
                <a:solidFill>
                  <a:srgbClr val="CED1D8"/>
                </a:solidFill>
              </a:rPr>
              <a:t>g4 = pq.read_table(</a:t>
            </a:r>
          </a:p>
          <a:p>
            <a:r>
              <a:rPr sz="950">
                <a:solidFill>
                  <a:srgbClr val="CE9178"/>
                </a:solidFill>
              </a:rPr>
              <a:t>    'AGlobal4_Analysis.parquet'</a:t>
            </a:r>
          </a:p>
          <a:p>
            <a:r>
              <a:rPr sz="950">
                <a:solidFill>
                  <a:srgbClr val="CED1D8"/>
                </a:solidFill>
              </a:rPr>
              <a:t>).to_pandas()</a:t>
            </a:r>
          </a:p>
          <a:p>
            <a:r>
              <a:rPr sz="950">
                <a:solidFill>
                  <a:srgbClr val="CED1D8"/>
                </a:solidFill>
              </a:rPr>
              <a:t/>
            </a:r>
          </a:p>
          <a:p>
            <a:r>
              <a:rPr sz="950">
                <a:solidFill>
                  <a:srgbClr val="6A9955"/>
                </a:solidFill>
              </a:rPr>
              <a:t># Filter to one parameter</a:t>
            </a:r>
          </a:p>
          <a:p>
            <a:r>
              <a:rPr sz="950">
                <a:solidFill>
                  <a:srgbClr val="CED1D8"/>
                </a:solidFill>
              </a:rPr>
              <a:t>t = g4[g4['PARAMETER'] == 'T_AllLevels']</a:t>
            </a:r>
          </a:p>
          <a:p>
            <a:r>
              <a:rPr sz="950">
                <a:solidFill>
                  <a:srgbClr val="CED1D8"/>
                </a:solidFill>
              </a:rPr>
              <a:t/>
            </a:r>
          </a:p>
          <a:p>
            <a:r>
              <a:rPr sz="950">
                <a:solidFill>
                  <a:srgbClr val="6A9955"/>
                </a:solidFill>
              </a:rPr>
              <a:t># Cross-model comparison</a:t>
            </a:r>
          </a:p>
          <a:p>
            <a:r>
              <a:rPr sz="950">
                <a:solidFill>
                  <a:srgbClr val="CED1D8"/>
                </a:solidFill>
              </a:rPr>
              <a:t>g4e = pq.read_table(</a:t>
            </a:r>
          </a:p>
          <a:p>
            <a:r>
              <a:rPr sz="950">
                <a:solidFill>
                  <a:srgbClr val="CE9178"/>
                </a:solidFill>
              </a:rPr>
              <a:t>    'AGlobal4E_Analysis.parquet',</a:t>
            </a:r>
          </a:p>
          <a:p>
            <a:r>
              <a:rPr sz="950">
                <a:solidFill>
                  <a:srgbClr val="CED1D8"/>
                </a:solidFill>
              </a:rPr>
              <a:t>    filters=[('PARAMETER','=','MSLP')]</a:t>
            </a:r>
          </a:p>
          <a:p>
            <a:r>
              <a:rPr sz="950">
                <a:solidFill>
                  <a:srgbClr val="CED1D8"/>
                </a:solidFill>
              </a:rPr>
              <a:t>).to_pandas()</a:t>
            </a:r>
          </a:p>
          <a:p>
            <a:r>
              <a:rPr sz="950">
                <a:solidFill>
                  <a:srgbClr val="CED1D8"/>
                </a:solidFill>
              </a:rPr>
              <a:t/>
            </a:r>
          </a:p>
          <a:p>
            <a:r>
              <a:rPr sz="950">
                <a:solidFill>
                  <a:srgbClr val="6A9955"/>
                </a:solidFill>
              </a:rPr>
              <a:t># Ensemble stats only</a:t>
            </a:r>
          </a:p>
          <a:p>
            <a:r>
              <a:rPr sz="950">
                <a:solidFill>
                  <a:srgbClr val="CED1D8"/>
                </a:solidFill>
              </a:rPr>
              <a:t>ens = g4e[</a:t>
            </a:r>
          </a:p>
          <a:p>
            <a:r>
              <a:rPr sz="950">
                <a:solidFill>
                  <a:srgbClr val="CED1D8"/>
                </a:solidFill>
              </a:rPr>
              <a:t>    g4e['STAT_TYPE'] == 'EnsembleStat']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2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2064" y="4297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2461E5"/>
                </a:solidFill>
              </a:rPr>
              <a:t>Example Results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35661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56692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4663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060"/>
                </a:solidFill>
              </a:rPr>
              <a:t>Cross-model comparison: MSLP RMSE by lead time over the Northern Hemisphere.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663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060"/>
                </a:solidFill>
              </a:rPr>
              <a:t>Ensemble calibration check: Spread ≈ RMSE indicates a well-calibrated ensemble.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1663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</a:rPr>
              <a:t>Loaded with:   pq.read_table('AGlobal4_Analysis.parquet', filters=[('PARAMETER','=','MSLP')]).to_pandas()</a:t>
            </a:r>
          </a:p>
          <a:p>
            <a:pPr algn="l"/>
            <a:r>
              <a:rPr sz="850" b="0">
                <a:solidFill>
                  <a:srgbClr val="606060"/>
                </a:solidFill>
              </a:rPr>
              <a:t>Filtered with: df[df['STAT_TYPE'] == 'EnsembleStat'] | df[df['VX_MASK'] == 'NH']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ureau White">
  <a:themeElements>
    <a:clrScheme name="The Bureau of Meteorology">
      <a:dk1>
        <a:srgbClr val="000000"/>
      </a:dk1>
      <a:lt1>
        <a:srgbClr val="FFFFFF"/>
      </a:lt1>
      <a:dk2>
        <a:srgbClr val="424242"/>
      </a:dk2>
      <a:lt2>
        <a:srgbClr val="D5D5D5"/>
      </a:lt2>
      <a:accent1>
        <a:srgbClr val="2461E5"/>
      </a:accent1>
      <a:accent2>
        <a:srgbClr val="00C689"/>
      </a:accent2>
      <a:accent3>
        <a:srgbClr val="243700"/>
      </a:accent3>
      <a:accent4>
        <a:srgbClr val="001F43"/>
      </a:accent4>
      <a:accent5>
        <a:srgbClr val="B64916"/>
      </a:accent5>
      <a:accent6>
        <a:srgbClr val="F2F2DD"/>
      </a:accent6>
      <a:hlink>
        <a:srgbClr val="0563C1"/>
      </a:hlink>
      <a:folHlink>
        <a:srgbClr val="B6491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E655F94-AA80-4AE6-8A4B-8D53EF74F0F0}" vid="{33BCC0EB-7301-4185-B422-3261A5FB69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1876</Words>
  <Application>Microsoft Office PowerPoint</Application>
  <PresentationFormat>Widescreen</PresentationFormat>
  <Paragraphs>333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Times New Roman</vt:lpstr>
      <vt:lpstr>1_Bureau White</vt:lpstr>
      <vt:lpstr>Agenda</vt:lpstr>
      <vt:lpstr>Verification at the Bureau</vt:lpstr>
      <vt:lpstr>METplus – how its built</vt:lpstr>
      <vt:lpstr>METplus vs Jive/Scores</vt:lpstr>
      <vt:lpstr>Current status</vt:lpstr>
      <vt:lpstr>GoLD</vt:lpstr>
      <vt:lpstr>Expectations</vt:lpstr>
      <vt:lpstr>What do application services need?</vt:lpstr>
      <vt:lpstr>PowerPoint Presentation</vt:lpstr>
      <vt:lpstr>PowerPoint Presentation</vt:lpstr>
      <vt:lpstr>PowerPoint Presentation</vt:lpstr>
      <vt:lpstr>ACCESS-G/GE vs International NWP</vt:lpstr>
      <vt:lpstr>ACCESS-G/GE vs International NWP</vt:lpstr>
      <vt:lpstr>METplus - Wins</vt:lpstr>
      <vt:lpstr>What is ‘in production’?</vt:lpstr>
      <vt:lpstr>METplus – Not Wins</vt:lpstr>
      <vt:lpstr>Conclusion</vt:lpstr>
      <vt:lpstr>Speedhumps</vt:lpstr>
      <vt:lpstr>Previous Job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Dimech</dc:creator>
  <cp:lastModifiedBy>Brendan Dimech</cp:lastModifiedBy>
  <cp:revision>6</cp:revision>
  <dcterms:created xsi:type="dcterms:W3CDTF">2025-11-03T23:35:56Z</dcterms:created>
  <dcterms:modified xsi:type="dcterms:W3CDTF">2026-05-04T04:30:57Z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dad5e-85c4-4d99-839f-4db88ccef5c5_Enabled">
    <vt:lpwstr>true</vt:lpwstr>
  </property>
  <property fmtid="{D5CDD505-2E9C-101B-9397-08002B2CF9AE}" pid="3" name="MSIP_Label_55edad5e-85c4-4d99-839f-4db88ccef5c5_SetDate">
    <vt:lpwstr>2025-11-04T05:20:40Z</vt:lpwstr>
  </property>
  <property fmtid="{D5CDD505-2E9C-101B-9397-08002B2CF9AE}" pid="4" name="MSIP_Label_55edad5e-85c4-4d99-839f-4db88ccef5c5_Method">
    <vt:lpwstr>Standard</vt:lpwstr>
  </property>
  <property fmtid="{D5CDD505-2E9C-101B-9397-08002B2CF9AE}" pid="5" name="MSIP_Label_55edad5e-85c4-4d99-839f-4db88ccef5c5_Name">
    <vt:lpwstr>PSPF Official</vt:lpwstr>
  </property>
  <property fmtid="{D5CDD505-2E9C-101B-9397-08002B2CF9AE}" pid="6" name="MSIP_Label_55edad5e-85c4-4d99-839f-4db88ccef5c5_SiteId">
    <vt:lpwstr>d1ad7db5-97dd-4f2b-816e-50d663b7bb94</vt:lpwstr>
  </property>
  <property fmtid="{D5CDD505-2E9C-101B-9397-08002B2CF9AE}" pid="7" name="MSIP_Label_55edad5e-85c4-4d99-839f-4db88ccef5c5_ActionId">
    <vt:lpwstr>cf3e1f3f-f232-463b-af25-622468e79543</vt:lpwstr>
  </property>
  <property fmtid="{D5CDD505-2E9C-101B-9397-08002B2CF9AE}" pid="8" name="MSIP_Label_55edad5e-85c4-4d99-839f-4db88ccef5c5_ContentBits">
    <vt:lpwstr>3</vt:lpwstr>
  </property>
  <property fmtid="{D5CDD505-2E9C-101B-9397-08002B2CF9AE}" pid="9" name="MSIP_Label_55edad5e-85c4-4d99-839f-4db88ccef5c5_Tag">
    <vt:lpwstr>10, 3, 0, 1</vt:lpwstr>
  </property>
  <property fmtid="{D5CDD505-2E9C-101B-9397-08002B2CF9AE}" pid="10" name="ClassificationContentMarkingFooterLocations">
    <vt:lpwstr>1_Bureau White:6</vt:lpwstr>
  </property>
  <property fmtid="{D5CDD505-2E9C-101B-9397-08002B2CF9AE}" pid="11" name="ClassificationContentMarkingFooterText">
    <vt:lpwstr>OFFICIAL</vt:lpwstr>
  </property>
  <property fmtid="{D5CDD505-2E9C-101B-9397-08002B2CF9AE}" pid="12" name="ClassificationContentMarkingHeaderLocations">
    <vt:lpwstr>1_Bureau White:5</vt:lpwstr>
  </property>
  <property fmtid="{D5CDD505-2E9C-101B-9397-08002B2CF9AE}" pid="13" name="ClassificationContentMarkingHeaderText">
    <vt:lpwstr>OFFICIAL</vt:lpwstr>
  </property>
</Properties>
</file>